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8"/>
  </p:notesMasterIdLst>
  <p:handoutMasterIdLst>
    <p:handoutMasterId r:id="rId39"/>
  </p:handoutMasterIdLst>
  <p:sldIdLst>
    <p:sldId id="257" r:id="rId5"/>
    <p:sldId id="276" r:id="rId6"/>
    <p:sldId id="278" r:id="rId7"/>
    <p:sldId id="295" r:id="rId8"/>
    <p:sldId id="279" r:id="rId9"/>
    <p:sldId id="280" r:id="rId10"/>
    <p:sldId id="283" r:id="rId11"/>
    <p:sldId id="284" r:id="rId12"/>
    <p:sldId id="285" r:id="rId13"/>
    <p:sldId id="303" r:id="rId14"/>
    <p:sldId id="270" r:id="rId15"/>
    <p:sldId id="302" r:id="rId16"/>
    <p:sldId id="298" r:id="rId17"/>
    <p:sldId id="271" r:id="rId18"/>
    <p:sldId id="272" r:id="rId19"/>
    <p:sldId id="273" r:id="rId20"/>
    <p:sldId id="274" r:id="rId21"/>
    <p:sldId id="275" r:id="rId22"/>
    <p:sldId id="277" r:id="rId23"/>
    <p:sldId id="281" r:id="rId24"/>
    <p:sldId id="282" r:id="rId25"/>
    <p:sldId id="286" r:id="rId26"/>
    <p:sldId id="287" r:id="rId27"/>
    <p:sldId id="288" r:id="rId28"/>
    <p:sldId id="296" r:id="rId29"/>
    <p:sldId id="297" r:id="rId30"/>
    <p:sldId id="289" r:id="rId31"/>
    <p:sldId id="300" r:id="rId32"/>
    <p:sldId id="290" r:id="rId33"/>
    <p:sldId id="291" r:id="rId34"/>
    <p:sldId id="301" r:id="rId35"/>
    <p:sldId id="292" r:id="rId36"/>
    <p:sldId id="293" r:id="rId3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CC948-C764-9D47-3F9F-5B68994478E6}" v="1353" dt="2025-03-12T18:04:21.097"/>
    <p1510:client id="{D9F90788-9AD3-D638-864E-6AA1E39778DE}" v="402" dt="2025-03-10T18:16:24.108"/>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5274" autoAdjust="0"/>
  </p:normalViewPr>
  <p:slideViewPr>
    <p:cSldViewPr>
      <p:cViewPr varScale="1">
        <p:scale>
          <a:sx n="47" d="100"/>
          <a:sy n="47" d="100"/>
        </p:scale>
        <p:origin x="58" y="826"/>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5/7/2026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5/7/2026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grpSp>
        <p:nvGrpSpPr>
          <p:cNvPr id="256" name="line"/>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1068651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67" name="line"/>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404487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255" name="line"/>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FE8FB1-0A7A-443E-AAF7-31D4FA1AA312}"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871008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58" name="line"/>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AFE8FB1-0A7A-443E-AAF7-31D4FA1AA312}"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186826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60" name="line"/>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AFE8FB1-0A7A-443E-AAF7-31D4FA1AA312}"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67542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6" name="line"/>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AFE8FB1-0A7A-443E-AAF7-31D4FA1AA312}"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189087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61343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615" name="frame"/>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46169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614" name="frame"/>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81949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line"/>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301030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line"/>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8012" y="277813"/>
            <a:ext cx="9144001" cy="5898573"/>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292764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9AFE8FB1-0A7A-443E-AAF7-31D4FA1AA312}" type="datetimeFigureOut">
              <a:rPr lang="en-US" smtClean="0"/>
              <a:pPr/>
              <a:t>5/7/2026</a:t>
            </a:fld>
            <a:endParaRPr lang="en-US"/>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271805945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3.png"/><Relationship Id="rId4" Type="http://schemas.openxmlformats.org/officeDocument/2006/relationships/image" Target="../media/image3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0.png"/><Relationship Id="rId3" Type="http://schemas.openxmlformats.org/officeDocument/2006/relationships/slide" Target="slide5.xml"/><Relationship Id="rId7" Type="http://schemas.openxmlformats.org/officeDocument/2006/relationships/image" Target="../media/image8.png"/><Relationship Id="rId12" Type="http://schemas.openxmlformats.org/officeDocument/2006/relationships/slide" Target="slide8.xml"/><Relationship Id="rId2" Type="http://schemas.openxmlformats.org/officeDocument/2006/relationships/image" Target="../media/image6.pn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10.png"/><Relationship Id="rId5" Type="http://schemas.openxmlformats.org/officeDocument/2006/relationships/image" Target="../media/image8.png"/><Relationship Id="rId15" Type="http://schemas.openxmlformats.org/officeDocument/2006/relationships/slide" Target="slide9.xml"/><Relationship Id="rId10"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slide" Target="slide7.xml"/><Relationship Id="rId1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7.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jpeg"/></Relationships>
</file>

<file path=ppt/slides/_rels/slide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dirty="0">
                <a:latin typeface="Consolas"/>
                <a:ea typeface="Calibri Light"/>
                <a:cs typeface="Calibri Light"/>
              </a:rPr>
              <a:t>Problem definition</a:t>
            </a:r>
            <a:endParaRPr lang="en-US" dirty="0">
              <a:latin typeface="Consolas"/>
            </a:endParaRPr>
          </a:p>
        </p:txBody>
      </p:sp>
      <p:sp>
        <p:nvSpPr>
          <p:cNvPr id="14" name="Content Placeholder 13"/>
          <p:cNvSpPr>
            <a:spLocks noGrp="1"/>
          </p:cNvSpPr>
          <p:nvPr>
            <p:ph idx="1"/>
          </p:nvPr>
        </p:nvSpPr>
        <p:spPr>
          <a:xfrm>
            <a:off x="732044" y="1708095"/>
            <a:ext cx="10273234" cy="4281577"/>
          </a:xfrm>
        </p:spPr>
        <p:txBody>
          <a:bodyPr vert="horz" lIns="91440" tIns="45720" rIns="91440" bIns="45720" rtlCol="0" anchor="t">
            <a:normAutofit/>
          </a:bodyPr>
          <a:lstStyle/>
          <a:p>
            <a:r>
              <a:rPr lang="en-US" dirty="0">
                <a:ea typeface="+mn-lt"/>
                <a:cs typeface="+mn-lt"/>
              </a:rPr>
              <a:t>Automated Guided Vehicles (AGVs) are increasingly utilized in various industries for material handling and logistics. However, their operational efficiency is often hindered by suboptimal path planning, leading to excessive travel times and energy consumption. </a:t>
            </a:r>
            <a:endParaRPr lang="en-US" dirty="0"/>
          </a:p>
          <a:p>
            <a:r>
              <a:rPr lang="en-US" dirty="0">
                <a:ea typeface="+mn-lt"/>
                <a:cs typeface="+mn-lt"/>
              </a:rPr>
              <a:t>In static environments, where obstacles and layout constraints are fixed, the challenge lies in developing a path planning solution that effectively navigates these constraints while minimizing both energy expenditure and travel duration</a:t>
            </a:r>
            <a:endParaRPr lang="en-US" dirty="0"/>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B3E455A6-DE3A-2884-CC8C-EA1F211350B9}"/>
                  </a:ext>
                </a:extLst>
              </p:cNvPr>
              <p:cNvGraphicFramePr>
                <a:graphicFrameLocks noChangeAspect="1"/>
              </p:cNvGraphicFramePr>
              <p:nvPr>
                <p:extLst>
                  <p:ext uri="{D42A27DB-BD31-4B8C-83A1-F6EECF244321}">
                    <p14:modId xmlns:p14="http://schemas.microsoft.com/office/powerpoint/2010/main" val="2508928687"/>
                  </p:ext>
                </p:extLst>
              </p:nvPr>
            </p:nvGraphicFramePr>
            <p:xfrm>
              <a:off x="3884612" y="4868862"/>
              <a:ext cx="3047206" cy="1714500"/>
            </p:xfrm>
            <a:graphic>
              <a:graphicData uri="http://schemas.microsoft.com/office/powerpoint/2016/slidezoom">
                <pslz:sldZm>
                  <pslz:sldZmObj sldId="276" cId="1955647728">
                    <pslz:zmPr id="{E23BD3F1-15E4-43BE-8243-931260E69998}" returnToParent="0" transitionDur="1000">
                      <p166:blipFill xmlns:p166="http://schemas.microsoft.com/office/powerpoint/2016/6/main">
                        <a:blip r:embed="rId2"/>
                        <a:stretch>
                          <a:fillRect/>
                        </a:stretch>
                      </p166:blipFill>
                      <p166:spPr xmlns:p166="http://schemas.microsoft.com/office/powerpoint/2016/6/main">
                        <a:xfrm>
                          <a:off x="0" y="0"/>
                          <a:ext cx="3047206" cy="1714500"/>
                        </a:xfrm>
                        <a:prstGeom prst="rect">
                          <a:avLst/>
                        </a:prstGeom>
                        <a:ln w="3175">
                          <a:solidFill>
                            <a:schemeClr val="tx1"/>
                          </a:solidFill>
                        </a:ln>
                        <a:effectLst>
                          <a:glow rad="76200">
                            <a:schemeClr val="accent1">
                              <a:alpha val="40000"/>
                            </a:schemeClr>
                          </a:glow>
                        </a:effectLst>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B3E455A6-DE3A-2884-CC8C-EA1F211350B9}"/>
                  </a:ext>
                </a:extLst>
              </p:cNvPr>
              <p:cNvPicPr>
                <a:picLocks noGrp="1" noRot="1" noChangeAspect="1" noMove="1" noResize="1" noEditPoints="1" noAdjustHandles="1" noChangeArrowheads="1" noChangeShapeType="1"/>
              </p:cNvPicPr>
              <p:nvPr/>
            </p:nvPicPr>
            <p:blipFill>
              <a:blip r:embed="rId4"/>
              <a:stretch>
                <a:fillRect/>
              </a:stretch>
            </p:blipFill>
            <p:spPr>
              <a:xfrm>
                <a:off x="3884612" y="4868862"/>
                <a:ext cx="3047206" cy="1714500"/>
              </a:xfrm>
              <a:prstGeom prst="rect">
                <a:avLst/>
              </a:prstGeom>
              <a:ln w="3175">
                <a:solidFill>
                  <a:schemeClr val="tx1"/>
                </a:solidFill>
              </a:ln>
              <a:effectLst>
                <a:glow rad="76200">
                  <a:schemeClr val="accent1">
                    <a:alpha val="40000"/>
                  </a:schemeClr>
                </a:glow>
              </a:effectLst>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85032B61-1DC5-5700-40FC-584E7FD81921}"/>
                  </a:ext>
                </a:extLst>
              </p:cNvPr>
              <p:cNvGraphicFramePr>
                <a:graphicFrameLocks noChangeAspect="1"/>
              </p:cNvGraphicFramePr>
              <p:nvPr>
                <p:extLst>
                  <p:ext uri="{D42A27DB-BD31-4B8C-83A1-F6EECF244321}">
                    <p14:modId xmlns:p14="http://schemas.microsoft.com/office/powerpoint/2010/main" val="3961030986"/>
                  </p:ext>
                </p:extLst>
              </p:nvPr>
            </p:nvGraphicFramePr>
            <p:xfrm>
              <a:off x="7847012" y="4868862"/>
              <a:ext cx="3047206" cy="1714500"/>
            </p:xfrm>
            <a:graphic>
              <a:graphicData uri="http://schemas.microsoft.com/office/powerpoint/2016/slidezoom">
                <pslz:sldZm>
                  <pslz:sldZmObj sldId="278" cId="2330080924">
                    <pslz:zmPr id="{F8E0284E-058D-4ECE-8914-6B33E7E59A2C}" returnToParent="0" transitionDur="1000">
                      <p166:blipFill xmlns:p166="http://schemas.microsoft.com/office/powerpoint/2016/6/main">
                        <a:blip r:embed="rId5"/>
                        <a:stretch>
                          <a:fillRect/>
                        </a:stretch>
                      </p166:blipFill>
                      <p166:spPr xmlns:p166="http://schemas.microsoft.com/office/powerpoint/2016/6/main">
                        <a:xfrm>
                          <a:off x="0" y="0"/>
                          <a:ext cx="3047206" cy="1714500"/>
                        </a:xfrm>
                        <a:prstGeom prst="rect">
                          <a:avLst/>
                        </a:prstGeom>
                        <a:ln w="3175">
                          <a:solidFill>
                            <a:prstClr val="ltGray"/>
                          </a:solidFill>
                        </a:ln>
                        <a:effectLst>
                          <a:glow rad="76200">
                            <a:schemeClr val="accent1">
                              <a:alpha val="40000"/>
                            </a:schemeClr>
                          </a:glow>
                        </a:effectLst>
                      </p166:spPr>
                    </pslz:zmPr>
                  </pslz:sldZmObj>
                </pslz:sldZm>
              </a:graphicData>
            </a:graphic>
          </p:graphicFrame>
        </mc:Choice>
        <mc:Fallback xmlns="">
          <p:pic>
            <p:nvPicPr>
              <p:cNvPr id="7" name="Slide Zoom 6">
                <a:hlinkClick r:id="rId6" action="ppaction://hlinksldjump"/>
                <a:extLst>
                  <a:ext uri="{FF2B5EF4-FFF2-40B4-BE49-F238E27FC236}">
                    <a16:creationId xmlns:a16="http://schemas.microsoft.com/office/drawing/2014/main" id="{85032B61-1DC5-5700-40FC-584E7FD81921}"/>
                  </a:ext>
                </a:extLst>
              </p:cNvPr>
              <p:cNvPicPr>
                <a:picLocks noGrp="1" noRot="1" noChangeAspect="1" noMove="1" noResize="1" noEditPoints="1" noAdjustHandles="1" noChangeArrowheads="1" noChangeShapeType="1"/>
              </p:cNvPicPr>
              <p:nvPr/>
            </p:nvPicPr>
            <p:blipFill>
              <a:blip r:embed="rId7"/>
              <a:stretch>
                <a:fillRect/>
              </a:stretch>
            </p:blipFill>
            <p:spPr>
              <a:xfrm>
                <a:off x="7847012" y="4868862"/>
                <a:ext cx="3047206" cy="1714500"/>
              </a:xfrm>
              <a:prstGeom prst="rect">
                <a:avLst/>
              </a:prstGeom>
              <a:ln w="3175">
                <a:solidFill>
                  <a:prstClr val="ltGray"/>
                </a:solidFill>
              </a:ln>
              <a:effectLst>
                <a:glow rad="76200">
                  <a:schemeClr val="accent1">
                    <a:alpha val="40000"/>
                  </a:schemeClr>
                </a:glow>
              </a:effectLst>
            </p:spPr>
          </p:pic>
        </mc:Fallback>
      </mc:AlternateContent>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1A02-B17A-8782-DE16-BBE2D4075E8B}"/>
              </a:ext>
            </a:extLst>
          </p:cNvPr>
          <p:cNvSpPr>
            <a:spLocks noGrp="1"/>
          </p:cNvSpPr>
          <p:nvPr>
            <p:ph type="title"/>
          </p:nvPr>
        </p:nvSpPr>
        <p:spPr/>
        <p:txBody>
          <a:bodyPr/>
          <a:lstStyle/>
          <a:p>
            <a:r>
              <a:rPr lang="en-US" dirty="0"/>
              <a:t>AGV</a:t>
            </a:r>
          </a:p>
        </p:txBody>
      </p:sp>
      <p:pic>
        <p:nvPicPr>
          <p:cNvPr id="4" name="Content Placeholder 3" descr="Benefits and Components of Automated Guided Vehicles">
            <a:extLst>
              <a:ext uri="{FF2B5EF4-FFF2-40B4-BE49-F238E27FC236}">
                <a16:creationId xmlns:a16="http://schemas.microsoft.com/office/drawing/2014/main" id="{E25B97A6-38BE-E104-2FBD-7F7B690429F9}"/>
              </a:ext>
            </a:extLst>
          </p:cNvPr>
          <p:cNvPicPr>
            <a:picLocks noGrp="1" noChangeAspect="1"/>
          </p:cNvPicPr>
          <p:nvPr>
            <p:ph idx="1"/>
          </p:nvPr>
        </p:nvPicPr>
        <p:blipFill>
          <a:blip r:embed="rId2"/>
          <a:stretch>
            <a:fillRect/>
          </a:stretch>
        </p:blipFill>
        <p:spPr>
          <a:xfrm>
            <a:off x="4088482" y="4349297"/>
            <a:ext cx="4011862" cy="2255893"/>
          </a:xfrm>
        </p:spPr>
      </p:pic>
      <p:pic>
        <p:nvPicPr>
          <p:cNvPr id="5" name="Picture 4" descr="Wheel configurations in AGVs: (a) differential; (b) tricycle; (c) quad;...  | Download Scientific Diagram">
            <a:extLst>
              <a:ext uri="{FF2B5EF4-FFF2-40B4-BE49-F238E27FC236}">
                <a16:creationId xmlns:a16="http://schemas.microsoft.com/office/drawing/2014/main" id="{5B2C7221-861F-3F51-0625-45E30A355556}"/>
              </a:ext>
            </a:extLst>
          </p:cNvPr>
          <p:cNvPicPr>
            <a:picLocks noChangeAspect="1"/>
          </p:cNvPicPr>
          <p:nvPr/>
        </p:nvPicPr>
        <p:blipFill>
          <a:blip r:embed="rId3"/>
          <a:stretch>
            <a:fillRect/>
          </a:stretch>
        </p:blipFill>
        <p:spPr>
          <a:xfrm>
            <a:off x="8394818" y="4351967"/>
            <a:ext cx="3580920" cy="2274452"/>
          </a:xfrm>
          <a:prstGeom prst="rect">
            <a:avLst/>
          </a:prstGeom>
        </p:spPr>
      </p:pic>
      <p:sp>
        <p:nvSpPr>
          <p:cNvPr id="7" name="TextBox 6">
            <a:extLst>
              <a:ext uri="{FF2B5EF4-FFF2-40B4-BE49-F238E27FC236}">
                <a16:creationId xmlns:a16="http://schemas.microsoft.com/office/drawing/2014/main" id="{34721128-6203-F9B3-2BBC-5169F5DE497F}"/>
              </a:ext>
            </a:extLst>
          </p:cNvPr>
          <p:cNvSpPr txBox="1"/>
          <p:nvPr/>
        </p:nvSpPr>
        <p:spPr>
          <a:xfrm>
            <a:off x="422516" y="1719855"/>
            <a:ext cx="10645688" cy="26822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700" b="1" dirty="0"/>
              <a:t> Turning Radius</a:t>
            </a:r>
          </a:p>
          <a:p>
            <a:pPr marL="228600" indent="-228600">
              <a:lnSpc>
                <a:spcPct val="90000"/>
              </a:lnSpc>
              <a:buFont typeface=""/>
              <a:buChar char="•"/>
            </a:pPr>
            <a:r>
              <a:rPr lang="en-US" sz="1700" b="1" dirty="0"/>
              <a:t>Typical Range</a:t>
            </a:r>
            <a:r>
              <a:rPr lang="en-US" sz="1700" dirty="0"/>
              <a:t>: The turning radius of an AGV varies based on its design, but generally, it ranges from </a:t>
            </a:r>
            <a:r>
              <a:rPr lang="en-US" sz="1700" b="1" dirty="0"/>
              <a:t>0.5 meters to 3 meters</a:t>
            </a:r>
            <a:r>
              <a:rPr lang="en-US" sz="1700" dirty="0"/>
              <a:t>. Some smaller, more agile AGVs  may have a very small turning radius, as low as </a:t>
            </a:r>
            <a:r>
              <a:rPr lang="en-US" sz="1700" b="1" dirty="0"/>
              <a:t>0.5 meters</a:t>
            </a:r>
            <a:r>
              <a:rPr lang="en-US" sz="1700" dirty="0"/>
              <a:t>. Larger AGVs, such as those used in factories, may have a turning radius of </a:t>
            </a:r>
            <a:r>
              <a:rPr lang="en-US" sz="1700" b="1" dirty="0"/>
              <a:t>2 to 3 meters</a:t>
            </a:r>
            <a:r>
              <a:rPr lang="en-US" sz="1700" dirty="0"/>
              <a:t> or more.</a:t>
            </a:r>
          </a:p>
          <a:p>
            <a:pPr>
              <a:lnSpc>
                <a:spcPct val="90000"/>
              </a:lnSpc>
            </a:pPr>
            <a:endParaRPr lang="en-US" sz="1700" b="1" dirty="0"/>
          </a:p>
          <a:p>
            <a:pPr>
              <a:lnSpc>
                <a:spcPct val="90000"/>
              </a:lnSpc>
            </a:pPr>
            <a:r>
              <a:rPr lang="en-US" sz="1700" b="1" dirty="0"/>
              <a:t>Types of AGVs</a:t>
            </a:r>
            <a:r>
              <a:rPr lang="en-US" sz="1700" dirty="0"/>
              <a:t>:</a:t>
            </a:r>
          </a:p>
          <a:p>
            <a:pPr marL="228600" lvl="1" indent="-228600">
              <a:lnSpc>
                <a:spcPct val="90000"/>
              </a:lnSpc>
              <a:buFont typeface=""/>
              <a:buChar char="•"/>
            </a:pPr>
            <a:r>
              <a:rPr lang="en-US" sz="1700" b="1" dirty="0"/>
              <a:t>Omni-directional AGVs</a:t>
            </a:r>
            <a:r>
              <a:rPr lang="en-US" sz="1700" dirty="0"/>
              <a:t>: These have the ability to move in any direction without needing to turn (i.e., they can strafe). Their turning radius can essentially be </a:t>
            </a:r>
            <a:r>
              <a:rPr lang="en-US" sz="1700" b="1" dirty="0"/>
              <a:t>zero</a:t>
            </a:r>
            <a:r>
              <a:rPr lang="en-US" sz="1700" dirty="0"/>
              <a:t> because they can pivot in place.</a:t>
            </a:r>
          </a:p>
          <a:p>
            <a:pPr marL="228600" lvl="1" indent="-228600">
              <a:lnSpc>
                <a:spcPct val="90000"/>
              </a:lnSpc>
              <a:buFont typeface=""/>
              <a:buChar char="•"/>
            </a:pPr>
            <a:r>
              <a:rPr lang="en-US" sz="1700" b="1" dirty="0"/>
              <a:t>Differential Drive AGVs</a:t>
            </a:r>
            <a:r>
              <a:rPr lang="en-US" sz="1700" dirty="0"/>
              <a:t>: These typically have larger turning radii and require a wider path to turn due to the way they steer using two wheels or motors on either side.</a:t>
            </a:r>
          </a:p>
          <a:p>
            <a:pPr marL="228600" indent="-228600">
              <a:lnSpc>
                <a:spcPct val="90000"/>
              </a:lnSpc>
              <a:buFont typeface=""/>
              <a:buChar char="•"/>
            </a:pPr>
            <a:endParaRPr lang="en-US" sz="1700" dirty="0"/>
          </a:p>
        </p:txBody>
      </p:sp>
    </p:spTree>
    <p:extLst>
      <p:ext uri="{BB962C8B-B14F-4D97-AF65-F5344CB8AC3E}">
        <p14:creationId xmlns:p14="http://schemas.microsoft.com/office/powerpoint/2010/main" val="195564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2175D-D8D9-AE15-CB33-8A0551D31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FFEF1-1A24-037F-8334-4E5FF2A57E19}"/>
              </a:ext>
            </a:extLst>
          </p:cNvPr>
          <p:cNvSpPr>
            <a:spLocks noGrp="1"/>
          </p:cNvSpPr>
          <p:nvPr>
            <p:ph type="title"/>
          </p:nvPr>
        </p:nvSpPr>
        <p:spPr/>
        <p:txBody>
          <a:bodyPr/>
          <a:lstStyle/>
          <a:p>
            <a:r>
              <a:rPr lang="en-US" dirty="0"/>
              <a:t>Key Factors to Consider</a:t>
            </a:r>
          </a:p>
        </p:txBody>
      </p:sp>
      <p:sp>
        <p:nvSpPr>
          <p:cNvPr id="6" name="Content Placeholder 5">
            <a:extLst>
              <a:ext uri="{FF2B5EF4-FFF2-40B4-BE49-F238E27FC236}">
                <a16:creationId xmlns:a16="http://schemas.microsoft.com/office/drawing/2014/main" id="{792CCDE9-9E16-BA29-C5C8-B874693E5DFD}"/>
              </a:ext>
            </a:extLst>
          </p:cNvPr>
          <p:cNvSpPr>
            <a:spLocks noGrp="1"/>
          </p:cNvSpPr>
          <p:nvPr>
            <p:ph idx="1"/>
          </p:nvPr>
        </p:nvSpPr>
        <p:spPr>
          <a:xfrm>
            <a:off x="405455" y="1611685"/>
            <a:ext cx="11377917" cy="4867797"/>
          </a:xfrm>
        </p:spPr>
        <p:txBody>
          <a:bodyPr vert="horz" lIns="91440" tIns="45720" rIns="91440" bIns="45720" rtlCol="0" anchor="t">
            <a:normAutofit fontScale="70000" lnSpcReduction="20000"/>
          </a:bodyPr>
          <a:lstStyle/>
          <a:p>
            <a:pPr marL="0" indent="0">
              <a:buNone/>
            </a:pPr>
            <a:r>
              <a:rPr lang="en-US" b="1" dirty="0"/>
              <a:t>Speed</a:t>
            </a:r>
            <a:endParaRPr lang="en-US" dirty="0"/>
          </a:p>
          <a:p>
            <a:r>
              <a:rPr lang="en-US" b="1" dirty="0">
                <a:ea typeface="+mn-lt"/>
                <a:cs typeface="+mn-lt"/>
              </a:rPr>
              <a:t>Typical Speed Range</a:t>
            </a:r>
            <a:r>
              <a:rPr lang="en-US" dirty="0">
                <a:ea typeface="+mn-lt"/>
                <a:cs typeface="+mn-lt"/>
              </a:rPr>
              <a:t>: The speed of an AGV is typically in the range of </a:t>
            </a:r>
            <a:r>
              <a:rPr lang="en-US" b="1" dirty="0">
                <a:ea typeface="+mn-lt"/>
                <a:cs typeface="+mn-lt"/>
              </a:rPr>
              <a:t>1 to 2 meters per second (m/s)</a:t>
            </a:r>
            <a:r>
              <a:rPr lang="en-US" dirty="0">
                <a:ea typeface="+mn-lt"/>
                <a:cs typeface="+mn-lt"/>
              </a:rPr>
              <a:t>, or about </a:t>
            </a:r>
            <a:r>
              <a:rPr lang="en-US" b="1" dirty="0">
                <a:ea typeface="+mn-lt"/>
                <a:cs typeface="+mn-lt"/>
              </a:rPr>
              <a:t>3.6 to 7.2 kilometers per hour (km/h)</a:t>
            </a:r>
            <a:r>
              <a:rPr lang="en-US" dirty="0">
                <a:ea typeface="+mn-lt"/>
                <a:cs typeface="+mn-lt"/>
              </a:rPr>
              <a:t>. However, the actual speed can depend on the type of AGV and its application:</a:t>
            </a:r>
            <a:endParaRPr lang="en-US" dirty="0"/>
          </a:p>
          <a:p>
            <a:pPr lvl="1">
              <a:buFont typeface="Consolas" pitchFamily="34" charset="0"/>
              <a:buChar char="–"/>
            </a:pPr>
            <a:r>
              <a:rPr lang="en-US" b="1" dirty="0">
                <a:ea typeface="+mn-lt"/>
                <a:cs typeface="+mn-lt"/>
              </a:rPr>
              <a:t>Standard Warehouse AGVs</a:t>
            </a:r>
            <a:r>
              <a:rPr lang="en-US" dirty="0">
                <a:ea typeface="+mn-lt"/>
                <a:cs typeface="+mn-lt"/>
              </a:rPr>
              <a:t>: These generally travel at </a:t>
            </a:r>
            <a:r>
              <a:rPr lang="en-US" b="1" dirty="0">
                <a:ea typeface="+mn-lt"/>
                <a:cs typeface="+mn-lt"/>
              </a:rPr>
              <a:t>1 to 2 m/s</a:t>
            </a:r>
            <a:r>
              <a:rPr lang="en-US" dirty="0">
                <a:ea typeface="+mn-lt"/>
                <a:cs typeface="+mn-lt"/>
              </a:rPr>
              <a:t> to balance speed and safety, allowing enough time for the vehicle to react to obstacles.</a:t>
            </a:r>
            <a:endParaRPr lang="en-US" dirty="0"/>
          </a:p>
          <a:p>
            <a:pPr lvl="1">
              <a:buFont typeface="Consolas" pitchFamily="34" charset="0"/>
              <a:buChar char="–"/>
            </a:pPr>
            <a:r>
              <a:rPr lang="en-US" b="1" dirty="0">
                <a:ea typeface="+mn-lt"/>
                <a:cs typeface="+mn-lt"/>
              </a:rPr>
              <a:t>Heavy-duty AGVs</a:t>
            </a:r>
            <a:r>
              <a:rPr lang="en-US" dirty="0">
                <a:ea typeface="+mn-lt"/>
                <a:cs typeface="+mn-lt"/>
              </a:rPr>
              <a:t>: Used in industrial settings or factories, these might have speeds of </a:t>
            </a:r>
            <a:r>
              <a:rPr lang="en-US" b="1" dirty="0">
                <a:ea typeface="+mn-lt"/>
                <a:cs typeface="+mn-lt"/>
              </a:rPr>
              <a:t>0.5 to 1.5 m/s</a:t>
            </a:r>
            <a:r>
              <a:rPr lang="en-US" dirty="0">
                <a:ea typeface="+mn-lt"/>
                <a:cs typeface="+mn-lt"/>
              </a:rPr>
              <a:t> due to the larger loads they carry.</a:t>
            </a:r>
            <a:endParaRPr lang="en-US" dirty="0"/>
          </a:p>
          <a:p>
            <a:pPr lvl="1">
              <a:buFont typeface="Consolas" pitchFamily="34" charset="0"/>
              <a:buChar char="–"/>
            </a:pPr>
            <a:r>
              <a:rPr lang="en-US" b="1" dirty="0">
                <a:ea typeface="+mn-lt"/>
                <a:cs typeface="+mn-lt"/>
              </a:rPr>
              <a:t>High-speed AGVs</a:t>
            </a:r>
            <a:r>
              <a:rPr lang="en-US" dirty="0">
                <a:ea typeface="+mn-lt"/>
                <a:cs typeface="+mn-lt"/>
              </a:rPr>
              <a:t>: Some specialized AGVs designed for less congested environments or linear paths can achieve higher speeds, closer to </a:t>
            </a:r>
            <a:r>
              <a:rPr lang="en-US" b="1" dirty="0">
                <a:ea typeface="+mn-lt"/>
                <a:cs typeface="+mn-lt"/>
              </a:rPr>
              <a:t>2.5 to 3 m/s (9 km/h)</a:t>
            </a:r>
            <a:r>
              <a:rPr lang="en-US" dirty="0">
                <a:ea typeface="+mn-lt"/>
                <a:cs typeface="+mn-lt"/>
              </a:rPr>
              <a:t>, though these are less common.</a:t>
            </a:r>
            <a:endParaRPr lang="en-US" dirty="0"/>
          </a:p>
          <a:p>
            <a:r>
              <a:rPr lang="en-US" b="1" dirty="0">
                <a:ea typeface="+mn-lt"/>
                <a:cs typeface="+mn-lt"/>
              </a:rPr>
              <a:t>Factors Influencing Speed</a:t>
            </a:r>
            <a:r>
              <a:rPr lang="en-US" dirty="0">
                <a:ea typeface="+mn-lt"/>
                <a:cs typeface="+mn-lt"/>
              </a:rPr>
              <a:t>:</a:t>
            </a:r>
            <a:endParaRPr lang="en-US" dirty="0"/>
          </a:p>
          <a:p>
            <a:pPr lvl="1">
              <a:buFont typeface="Consolas" pitchFamily="34" charset="0"/>
              <a:buChar char="–"/>
            </a:pPr>
            <a:r>
              <a:rPr lang="en-US" b="1" dirty="0">
                <a:ea typeface="+mn-lt"/>
                <a:cs typeface="+mn-lt"/>
              </a:rPr>
              <a:t>Load</a:t>
            </a:r>
            <a:r>
              <a:rPr lang="en-US" dirty="0">
                <a:ea typeface="+mn-lt"/>
                <a:cs typeface="+mn-lt"/>
              </a:rPr>
              <a:t>: AGVs carrying heavier loads may have to reduce their speed to maintain safety and efficiency.</a:t>
            </a:r>
            <a:endParaRPr lang="en-US" dirty="0"/>
          </a:p>
          <a:p>
            <a:pPr lvl="1">
              <a:buFont typeface="Consolas" pitchFamily="34" charset="0"/>
              <a:buChar char="–"/>
            </a:pPr>
            <a:r>
              <a:rPr lang="en-US" b="1" dirty="0">
                <a:ea typeface="+mn-lt"/>
                <a:cs typeface="+mn-lt"/>
              </a:rPr>
              <a:t>Path Complexity</a:t>
            </a:r>
            <a:r>
              <a:rPr lang="en-US" dirty="0">
                <a:ea typeface="+mn-lt"/>
                <a:cs typeface="+mn-lt"/>
              </a:rPr>
              <a:t>: In areas with sharp turns, obstacles, or multiple AGVs, the speed is typically reduced to prevent collisions or accidents.</a:t>
            </a:r>
            <a:endParaRPr lang="en-US" dirty="0"/>
          </a:p>
          <a:p>
            <a:pPr lvl="1">
              <a:buFont typeface="Consolas" pitchFamily="34" charset="0"/>
              <a:buChar char="–"/>
            </a:pPr>
            <a:r>
              <a:rPr lang="en-US" b="1" dirty="0">
                <a:ea typeface="+mn-lt"/>
                <a:cs typeface="+mn-lt"/>
              </a:rPr>
              <a:t>Battery Life</a:t>
            </a:r>
            <a:r>
              <a:rPr lang="en-US" dirty="0">
                <a:ea typeface="+mn-lt"/>
                <a:cs typeface="+mn-lt"/>
              </a:rPr>
              <a:t>: Speed can also be influenced by the state of charge of the AGV’s battery; AGVs may slow down when battery levels are low to conserve energy.</a:t>
            </a:r>
            <a:endParaRPr lang="en-US" dirty="0"/>
          </a:p>
          <a:p>
            <a:pPr marL="0" indent="0">
              <a:buNone/>
            </a:pPr>
            <a:r>
              <a:rPr lang="en-US" dirty="0"/>
              <a:t>. </a:t>
            </a:r>
            <a:r>
              <a:rPr lang="en-US" b="1" dirty="0"/>
              <a:t>Acceleration and Deceleration</a:t>
            </a:r>
            <a:endParaRPr lang="en-US" dirty="0"/>
          </a:p>
          <a:p>
            <a:r>
              <a:rPr lang="en-US" b="1" dirty="0">
                <a:ea typeface="+mn-lt"/>
                <a:cs typeface="+mn-lt"/>
              </a:rPr>
              <a:t>Acceleration</a:t>
            </a:r>
            <a:r>
              <a:rPr lang="en-US" dirty="0">
                <a:ea typeface="+mn-lt"/>
                <a:cs typeface="+mn-lt"/>
              </a:rPr>
              <a:t>: The acceleration of an AGV typically ranges from </a:t>
            </a:r>
            <a:r>
              <a:rPr lang="en-US" b="1" dirty="0">
                <a:ea typeface="+mn-lt"/>
                <a:cs typeface="+mn-lt"/>
              </a:rPr>
              <a:t>0.1 to 0.5 m/s²</a:t>
            </a:r>
            <a:r>
              <a:rPr lang="en-US" dirty="0">
                <a:ea typeface="+mn-lt"/>
                <a:cs typeface="+mn-lt"/>
              </a:rPr>
              <a:t> depending on the design and load it is carrying. Faster acceleration allows for smoother starts but can require more careful path planning in environments with high foot traffic or other vehicles.</a:t>
            </a:r>
            <a:endParaRPr lang="en-US" dirty="0"/>
          </a:p>
          <a:p>
            <a:r>
              <a:rPr lang="en-US" b="1" dirty="0">
                <a:ea typeface="+mn-lt"/>
                <a:cs typeface="+mn-lt"/>
              </a:rPr>
              <a:t>Deceleration</a:t>
            </a:r>
            <a:r>
              <a:rPr lang="en-US" dirty="0">
                <a:ea typeface="+mn-lt"/>
                <a:cs typeface="+mn-lt"/>
              </a:rPr>
              <a:t>: AGVs also need to decelerate smoothly to avoid collisions or sudden stops. The deceleration is typically similar to or slightly less than acceleration, often in the range of </a:t>
            </a:r>
            <a:r>
              <a:rPr lang="en-US" b="1" dirty="0">
                <a:ea typeface="+mn-lt"/>
                <a:cs typeface="+mn-lt"/>
              </a:rPr>
              <a:t>0.1 to 0.3 m/s²</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233008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5D16F-4859-B2F5-C1BE-C81DFC338D28}"/>
              </a:ext>
            </a:extLst>
          </p:cNvPr>
          <p:cNvSpPr>
            <a:spLocks noGrp="1"/>
          </p:cNvSpPr>
          <p:nvPr>
            <p:ph type="title" idx="4294967295"/>
          </p:nvPr>
        </p:nvSpPr>
        <p:spPr>
          <a:xfrm>
            <a:off x="2436019" y="3087943"/>
            <a:ext cx="6324599" cy="682113"/>
          </a:xfrm>
        </p:spPr>
        <p:txBody>
          <a:bodyPr>
            <a:normAutofit/>
          </a:bodyPr>
          <a:lstStyle/>
          <a:p>
            <a:r>
              <a:rPr lang="en-US" sz="4000" dirty="0">
                <a:effectLst>
                  <a:outerShdw blurRad="50800" dist="38100" algn="l" rotWithShape="0">
                    <a:prstClr val="black">
                      <a:alpha val="40000"/>
                    </a:prstClr>
                  </a:outerShdw>
                </a:effectLst>
                <a:latin typeface="Bahnschrift Light SemiCondensed" panose="020B0502040204020203" pitchFamily="34" charset="0"/>
              </a:rPr>
              <a:t>Understanding and Relevance</a:t>
            </a:r>
            <a:endParaRPr lang="en-IN" sz="4000" dirty="0">
              <a:effectLst>
                <a:outerShdw blurRad="50800" dist="38100" algn="l" rotWithShape="0">
                  <a:prstClr val="black">
                    <a:alpha val="40000"/>
                  </a:prstClr>
                </a:outerShdw>
              </a:effectLst>
              <a:latin typeface="Bahnschrift Light SemiCondensed" panose="020B0502040204020203" pitchFamily="34" charset="0"/>
            </a:endParaRPr>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B4D76E98-A49E-99CA-A0C6-44FDB1EA0B0B}"/>
                  </a:ext>
                </a:extLst>
              </p:cNvPr>
              <p:cNvGraphicFramePr>
                <a:graphicFrameLocks noChangeAspect="1"/>
              </p:cNvGraphicFramePr>
              <p:nvPr>
                <p:extLst>
                  <p:ext uri="{D42A27DB-BD31-4B8C-83A1-F6EECF244321}">
                    <p14:modId xmlns:p14="http://schemas.microsoft.com/office/powerpoint/2010/main" val="3539030215"/>
                  </p:ext>
                </p:extLst>
              </p:nvPr>
            </p:nvGraphicFramePr>
            <p:xfrm>
              <a:off x="2055812" y="870079"/>
              <a:ext cx="2704481" cy="1521667"/>
            </p:xfrm>
            <a:graphic>
              <a:graphicData uri="http://schemas.microsoft.com/office/powerpoint/2016/slidezoom">
                <pslz:sldZm>
                  <pslz:sldZmObj sldId="279" cId="97280413">
                    <pslz:zmPr id="{309A98B9-24A4-407A-9D78-ED094337CA58}" returnToParent="0" transitionDur="1000">
                      <p166:blipFill xmlns:p166="http://schemas.microsoft.com/office/powerpoint/2016/6/main">
                        <a:blip r:embed="rId2"/>
                        <a:stretch>
                          <a:fillRect/>
                        </a:stretch>
                      </p166:blipFill>
                      <p166:spPr xmlns:p166="http://schemas.microsoft.com/office/powerpoint/2016/6/main">
                        <a:xfrm>
                          <a:off x="0" y="0"/>
                          <a:ext cx="2704481" cy="1521667"/>
                        </a:xfrm>
                        <a:prstGeom prst="rect">
                          <a:avLst/>
                        </a:prstGeom>
                        <a:ln w="3175">
                          <a:solidFill>
                            <a:prstClr val="ltGray"/>
                          </a:solidFill>
                        </a:ln>
                      </p166:spPr>
                    </pslz:zmPr>
                  </pslz:sldZmObj>
                </pslz:sldZm>
              </a:graphicData>
            </a:graphic>
          </p:graphicFrame>
        </mc:Choice>
        <mc:Fallback xmlns="">
          <p:pic>
            <p:nvPicPr>
              <p:cNvPr id="9" name="Slide Zoom 8">
                <a:hlinkClick r:id="rId3" action="ppaction://hlinksldjump"/>
                <a:extLst>
                  <a:ext uri="{FF2B5EF4-FFF2-40B4-BE49-F238E27FC236}">
                    <a16:creationId xmlns:a16="http://schemas.microsoft.com/office/drawing/2014/main" id="{B4D76E98-A49E-99CA-A0C6-44FDB1EA0B0B}"/>
                  </a:ext>
                </a:extLst>
              </p:cNvPr>
              <p:cNvPicPr>
                <a:picLocks noGrp="1" noRot="1" noChangeAspect="1" noMove="1" noResize="1" noEditPoints="1" noAdjustHandles="1" noChangeArrowheads="1" noChangeShapeType="1"/>
              </p:cNvPicPr>
              <p:nvPr/>
            </p:nvPicPr>
            <p:blipFill>
              <a:blip r:embed="rId4"/>
              <a:stretch>
                <a:fillRect/>
              </a:stretch>
            </p:blipFill>
            <p:spPr>
              <a:xfrm>
                <a:off x="2055812" y="870079"/>
                <a:ext cx="2704481" cy="152166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7E9E8579-0666-CF26-B61B-75255DCAF99E}"/>
                  </a:ext>
                </a:extLst>
              </p:cNvPr>
              <p:cNvGraphicFramePr>
                <a:graphicFrameLocks noChangeAspect="1"/>
              </p:cNvGraphicFramePr>
              <p:nvPr>
                <p:extLst>
                  <p:ext uri="{D42A27DB-BD31-4B8C-83A1-F6EECF244321}">
                    <p14:modId xmlns:p14="http://schemas.microsoft.com/office/powerpoint/2010/main" val="4003936184"/>
                  </p:ext>
                </p:extLst>
              </p:nvPr>
            </p:nvGraphicFramePr>
            <p:xfrm>
              <a:off x="4966620" y="884076"/>
              <a:ext cx="2693424" cy="1515446"/>
            </p:xfrm>
            <a:graphic>
              <a:graphicData uri="http://schemas.microsoft.com/office/powerpoint/2016/slidezoom">
                <pslz:sldZm>
                  <pslz:sldZmObj sldId="280" cId="1067685159">
                    <pslz:zmPr id="{D098EC0A-767A-43B7-8669-809B8EFBE540}" returnToParent="0" transitionDur="1000">
                      <p166:blipFill xmlns:p166="http://schemas.microsoft.com/office/powerpoint/2016/6/main">
                        <a:blip r:embed="rId5"/>
                        <a:stretch>
                          <a:fillRect/>
                        </a:stretch>
                      </p166:blipFill>
                      <p166:spPr xmlns:p166="http://schemas.microsoft.com/office/powerpoint/2016/6/main">
                        <a:xfrm>
                          <a:off x="0" y="0"/>
                          <a:ext cx="2693424" cy="1515446"/>
                        </a:xfrm>
                        <a:prstGeom prst="rect">
                          <a:avLst/>
                        </a:prstGeom>
                        <a:ln w="3175">
                          <a:solidFill>
                            <a:prstClr val="ltGray"/>
                          </a:solidFill>
                        </a:ln>
                      </p166:spPr>
                    </pslz:zmPr>
                  </pslz:sldZmObj>
                </pslz:sldZm>
              </a:graphicData>
            </a:graphic>
          </p:graphicFrame>
        </mc:Choice>
        <mc:Fallback xmlns="">
          <p:pic>
            <p:nvPicPr>
              <p:cNvPr id="11" name="Slide Zoom 10">
                <a:hlinkClick r:id="rId6" action="ppaction://hlinksldjump"/>
                <a:extLst>
                  <a:ext uri="{FF2B5EF4-FFF2-40B4-BE49-F238E27FC236}">
                    <a16:creationId xmlns:a16="http://schemas.microsoft.com/office/drawing/2014/main" id="{7E9E8579-0666-CF26-B61B-75255DCAF99E}"/>
                  </a:ext>
                </a:extLst>
              </p:cNvPr>
              <p:cNvPicPr>
                <a:picLocks noGrp="1" noRot="1" noChangeAspect="1" noMove="1" noResize="1" noEditPoints="1" noAdjustHandles="1" noChangeArrowheads="1" noChangeShapeType="1"/>
              </p:cNvPicPr>
              <p:nvPr/>
            </p:nvPicPr>
            <p:blipFill>
              <a:blip r:embed="rId7"/>
              <a:stretch>
                <a:fillRect/>
              </a:stretch>
            </p:blipFill>
            <p:spPr>
              <a:xfrm>
                <a:off x="4966620" y="884076"/>
                <a:ext cx="2693424" cy="151544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46451C8F-0B36-9A0A-D550-4B2976308D08}"/>
                  </a:ext>
                </a:extLst>
              </p:cNvPr>
              <p:cNvGraphicFramePr>
                <a:graphicFrameLocks noChangeAspect="1"/>
              </p:cNvGraphicFramePr>
              <p:nvPr>
                <p:extLst>
                  <p:ext uri="{D42A27DB-BD31-4B8C-83A1-F6EECF244321}">
                    <p14:modId xmlns:p14="http://schemas.microsoft.com/office/powerpoint/2010/main" val="3797664473"/>
                  </p:ext>
                </p:extLst>
              </p:nvPr>
            </p:nvGraphicFramePr>
            <p:xfrm>
              <a:off x="227012" y="4466253"/>
              <a:ext cx="2704481" cy="1521667"/>
            </p:xfrm>
            <a:graphic>
              <a:graphicData uri="http://schemas.microsoft.com/office/powerpoint/2016/slidezoom">
                <pslz:sldZm>
                  <pslz:sldZmObj sldId="283" cId="3081008122">
                    <pslz:zmPr id="{BCF5C39D-DFE2-497E-93C6-695ACAADF888}" returnToParent="0" transitionDur="1000">
                      <p166:blipFill xmlns:p166="http://schemas.microsoft.com/office/powerpoint/2016/6/main">
                        <a:blip r:embed="rId8"/>
                        <a:stretch>
                          <a:fillRect/>
                        </a:stretch>
                      </p166:blipFill>
                      <p166:spPr xmlns:p166="http://schemas.microsoft.com/office/powerpoint/2016/6/main">
                        <a:xfrm>
                          <a:off x="0" y="0"/>
                          <a:ext cx="2704481" cy="1521667"/>
                        </a:xfrm>
                        <a:prstGeom prst="rect">
                          <a:avLst/>
                        </a:prstGeom>
                        <a:ln w="3175">
                          <a:solidFill>
                            <a:prstClr val="ltGray"/>
                          </a:solidFill>
                        </a:ln>
                      </p166:spPr>
                    </pslz:zmPr>
                  </pslz:sldZmObj>
                </pslz:sldZm>
              </a:graphicData>
            </a:graphic>
          </p:graphicFrame>
        </mc:Choice>
        <mc:Fallback xmlns="">
          <p:pic>
            <p:nvPicPr>
              <p:cNvPr id="13" name="Slide Zoom 12">
                <a:hlinkClick r:id="rId9" action="ppaction://hlinksldjump"/>
                <a:extLst>
                  <a:ext uri="{FF2B5EF4-FFF2-40B4-BE49-F238E27FC236}">
                    <a16:creationId xmlns:a16="http://schemas.microsoft.com/office/drawing/2014/main" id="{46451C8F-0B36-9A0A-D550-4B2976308D08}"/>
                  </a:ext>
                </a:extLst>
              </p:cNvPr>
              <p:cNvPicPr>
                <a:picLocks noGrp="1" noRot="1" noChangeAspect="1" noMove="1" noResize="1" noEditPoints="1" noAdjustHandles="1" noChangeArrowheads="1" noChangeShapeType="1"/>
              </p:cNvPicPr>
              <p:nvPr/>
            </p:nvPicPr>
            <p:blipFill>
              <a:blip r:embed="rId10"/>
              <a:stretch>
                <a:fillRect/>
              </a:stretch>
            </p:blipFill>
            <p:spPr>
              <a:xfrm>
                <a:off x="227012" y="4466253"/>
                <a:ext cx="2704481" cy="152166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112E487E-9FDB-7521-549A-64D8902EF79D}"/>
                  </a:ext>
                </a:extLst>
              </p:cNvPr>
              <p:cNvGraphicFramePr>
                <a:graphicFrameLocks noChangeAspect="1"/>
              </p:cNvGraphicFramePr>
              <p:nvPr>
                <p:extLst>
                  <p:ext uri="{D42A27DB-BD31-4B8C-83A1-F6EECF244321}">
                    <p14:modId xmlns:p14="http://schemas.microsoft.com/office/powerpoint/2010/main" val="462353844"/>
                  </p:ext>
                </p:extLst>
              </p:nvPr>
            </p:nvGraphicFramePr>
            <p:xfrm>
              <a:off x="3198812" y="4495800"/>
              <a:ext cx="2704481" cy="1521667"/>
            </p:xfrm>
            <a:graphic>
              <a:graphicData uri="http://schemas.microsoft.com/office/powerpoint/2016/slidezoom">
                <pslz:sldZm>
                  <pslz:sldZmObj sldId="284" cId="824891532">
                    <pslz:zmPr id="{E2AB83B4-61CE-4F2A-B388-B4AECBB8C448}" returnToParent="0" transitionDur="1000">
                      <p166:blipFill xmlns:p166="http://schemas.microsoft.com/office/powerpoint/2016/6/main">
                        <a:blip r:embed="rId11"/>
                        <a:stretch>
                          <a:fillRect/>
                        </a:stretch>
                      </p166:blipFill>
                      <p166:spPr xmlns:p166="http://schemas.microsoft.com/office/powerpoint/2016/6/main">
                        <a:xfrm>
                          <a:off x="0" y="0"/>
                          <a:ext cx="2704481" cy="1521667"/>
                        </a:xfrm>
                        <a:prstGeom prst="rect">
                          <a:avLst/>
                        </a:prstGeom>
                        <a:ln w="3175">
                          <a:solidFill>
                            <a:prstClr val="ltGray"/>
                          </a:solidFill>
                        </a:ln>
                      </p166:spPr>
                    </pslz:zmPr>
                  </pslz:sldZmObj>
                </pslz:sldZm>
              </a:graphicData>
            </a:graphic>
          </p:graphicFrame>
        </mc:Choice>
        <mc:Fallback xmlns="">
          <p:pic>
            <p:nvPicPr>
              <p:cNvPr id="15" name="Slide Zoom 14">
                <a:hlinkClick r:id="rId12" action="ppaction://hlinksldjump"/>
                <a:extLst>
                  <a:ext uri="{FF2B5EF4-FFF2-40B4-BE49-F238E27FC236}">
                    <a16:creationId xmlns:a16="http://schemas.microsoft.com/office/drawing/2014/main" id="{112E487E-9FDB-7521-549A-64D8902EF79D}"/>
                  </a:ext>
                </a:extLst>
              </p:cNvPr>
              <p:cNvPicPr>
                <a:picLocks noGrp="1" noRot="1" noChangeAspect="1" noMove="1" noResize="1" noEditPoints="1" noAdjustHandles="1" noChangeArrowheads="1" noChangeShapeType="1"/>
              </p:cNvPicPr>
              <p:nvPr/>
            </p:nvPicPr>
            <p:blipFill>
              <a:blip r:embed="rId13"/>
              <a:stretch>
                <a:fillRect/>
              </a:stretch>
            </p:blipFill>
            <p:spPr>
              <a:xfrm>
                <a:off x="3198812" y="4495800"/>
                <a:ext cx="2704481" cy="152166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CC118100-B321-EF01-C4C5-635E443F0229}"/>
                  </a:ext>
                </a:extLst>
              </p:cNvPr>
              <p:cNvGraphicFramePr>
                <a:graphicFrameLocks noChangeAspect="1"/>
              </p:cNvGraphicFramePr>
              <p:nvPr>
                <p:extLst>
                  <p:ext uri="{D42A27DB-BD31-4B8C-83A1-F6EECF244321}">
                    <p14:modId xmlns:p14="http://schemas.microsoft.com/office/powerpoint/2010/main" val="529471855"/>
                  </p:ext>
                </p:extLst>
              </p:nvPr>
            </p:nvGraphicFramePr>
            <p:xfrm>
              <a:off x="6094412" y="4460033"/>
              <a:ext cx="2704481" cy="1521667"/>
            </p:xfrm>
            <a:graphic>
              <a:graphicData uri="http://schemas.microsoft.com/office/powerpoint/2016/slidezoom">
                <pslz:sldZm>
                  <pslz:sldZmObj sldId="285" cId="3845076009">
                    <pslz:zmPr id="{B210A949-7F4F-4FA6-B764-707B6CD73205}" returnToParent="0" transitionDur="1000">
                      <p166:blipFill xmlns:p166="http://schemas.microsoft.com/office/powerpoint/2016/6/main">
                        <a:blip r:embed="rId14"/>
                        <a:stretch>
                          <a:fillRect/>
                        </a:stretch>
                      </p166:blipFill>
                      <p166:spPr xmlns:p166="http://schemas.microsoft.com/office/powerpoint/2016/6/main">
                        <a:xfrm>
                          <a:off x="0" y="0"/>
                          <a:ext cx="2704481" cy="1521667"/>
                        </a:xfrm>
                        <a:prstGeom prst="rect">
                          <a:avLst/>
                        </a:prstGeom>
                        <a:ln w="3175">
                          <a:solidFill>
                            <a:prstClr val="ltGray"/>
                          </a:solidFill>
                        </a:ln>
                      </p166:spPr>
                    </pslz:zmPr>
                  </pslz:sldZmObj>
                </pslz:sldZm>
              </a:graphicData>
            </a:graphic>
          </p:graphicFrame>
        </mc:Choice>
        <mc:Fallback xmlns="">
          <p:pic>
            <p:nvPicPr>
              <p:cNvPr id="17" name="Slide Zoom 16">
                <a:hlinkClick r:id="rId15" action="ppaction://hlinksldjump"/>
                <a:extLst>
                  <a:ext uri="{FF2B5EF4-FFF2-40B4-BE49-F238E27FC236}">
                    <a16:creationId xmlns:a16="http://schemas.microsoft.com/office/drawing/2014/main" id="{CC118100-B321-EF01-C4C5-635E443F0229}"/>
                  </a:ext>
                </a:extLst>
              </p:cNvPr>
              <p:cNvPicPr>
                <a:picLocks noGrp="1" noRot="1" noChangeAspect="1" noMove="1" noResize="1" noEditPoints="1" noAdjustHandles="1" noChangeArrowheads="1" noChangeShapeType="1"/>
              </p:cNvPicPr>
              <p:nvPr/>
            </p:nvPicPr>
            <p:blipFill>
              <a:blip r:embed="rId16"/>
              <a:stretch>
                <a:fillRect/>
              </a:stretch>
            </p:blipFill>
            <p:spPr>
              <a:xfrm>
                <a:off x="6094412" y="4460033"/>
                <a:ext cx="2704481" cy="1521667"/>
              </a:xfrm>
              <a:prstGeom prst="rect">
                <a:avLst/>
              </a:prstGeom>
              <a:ln w="3175">
                <a:solidFill>
                  <a:prstClr val="ltGray"/>
                </a:solidFill>
              </a:ln>
            </p:spPr>
          </p:pic>
        </mc:Fallback>
      </mc:AlternateContent>
      <p:sp>
        <p:nvSpPr>
          <p:cNvPr id="22" name="Arrow: Bent-Up 21">
            <a:extLst>
              <a:ext uri="{FF2B5EF4-FFF2-40B4-BE49-F238E27FC236}">
                <a16:creationId xmlns:a16="http://schemas.microsoft.com/office/drawing/2014/main" id="{C6A97D16-08EE-683D-F18C-0F512E9335B8}"/>
              </a:ext>
            </a:extLst>
          </p:cNvPr>
          <p:cNvSpPr/>
          <p:nvPr/>
        </p:nvSpPr>
        <p:spPr>
          <a:xfrm rot="16200000">
            <a:off x="8304212" y="2057400"/>
            <a:ext cx="1905000" cy="533400"/>
          </a:xfrm>
          <a:prstGeom prst="bentUp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Bent-Up 22">
            <a:extLst>
              <a:ext uri="{FF2B5EF4-FFF2-40B4-BE49-F238E27FC236}">
                <a16:creationId xmlns:a16="http://schemas.microsoft.com/office/drawing/2014/main" id="{0C0EFF8E-EED4-1B64-661F-9DCD61297D28}"/>
              </a:ext>
            </a:extLst>
          </p:cNvPr>
          <p:cNvSpPr/>
          <p:nvPr/>
        </p:nvSpPr>
        <p:spPr>
          <a:xfrm rot="10800000">
            <a:off x="227012" y="3428999"/>
            <a:ext cx="1600200" cy="533400"/>
          </a:xfrm>
          <a:prstGeom prst="bentUp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265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ABC97-4D2C-6710-3B9C-D4A58E6B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0B732-47D6-9F88-51FB-EEA33A7D16C4}"/>
              </a:ext>
            </a:extLst>
          </p:cNvPr>
          <p:cNvSpPr>
            <a:spLocks noGrp="1"/>
          </p:cNvSpPr>
          <p:nvPr>
            <p:ph type="title"/>
          </p:nvPr>
        </p:nvSpPr>
        <p:spPr>
          <a:xfrm>
            <a:off x="1522414" y="274638"/>
            <a:ext cx="9772286" cy="1020762"/>
          </a:xfrm>
        </p:spPr>
        <p:txBody>
          <a:bodyPr/>
          <a:lstStyle/>
          <a:p>
            <a:r>
              <a:rPr lang="en-US" dirty="0"/>
              <a:t>Addressing the Key Factors</a:t>
            </a:r>
          </a:p>
        </p:txBody>
      </p:sp>
      <p:sp>
        <p:nvSpPr>
          <p:cNvPr id="6" name="Content Placeholder 5">
            <a:extLst>
              <a:ext uri="{FF2B5EF4-FFF2-40B4-BE49-F238E27FC236}">
                <a16:creationId xmlns:a16="http://schemas.microsoft.com/office/drawing/2014/main" id="{C149A8A4-E393-C369-35FC-6B0BF1E72F72}"/>
              </a:ext>
            </a:extLst>
          </p:cNvPr>
          <p:cNvSpPr>
            <a:spLocks noGrp="1"/>
          </p:cNvSpPr>
          <p:nvPr>
            <p:ph idx="1"/>
          </p:nvPr>
        </p:nvSpPr>
        <p:spPr>
          <a:xfrm>
            <a:off x="405455" y="1611685"/>
            <a:ext cx="11377917" cy="5067927"/>
          </a:xfrm>
        </p:spPr>
        <p:txBody>
          <a:bodyPr vert="horz" lIns="91440" tIns="45720" rIns="91440" bIns="45720" rtlCol="0" anchor="t">
            <a:normAutofit fontScale="85000" lnSpcReduction="20000"/>
          </a:bodyPr>
          <a:lstStyle/>
          <a:p>
            <a:pPr>
              <a:buNone/>
            </a:pPr>
            <a:r>
              <a:rPr lang="en-US" sz="1700" b="1" dirty="0"/>
              <a:t>Turning Radius and Energy Consumption</a:t>
            </a:r>
            <a:endParaRPr lang="en-US" sz="1700" dirty="0"/>
          </a:p>
          <a:p>
            <a:pPr>
              <a:buFont typeface="Arial"/>
              <a:buChar char="▪"/>
            </a:pPr>
            <a:r>
              <a:rPr lang="en-US" sz="1700" b="1" dirty="0"/>
              <a:t>Sharp Turns vs. Wide Turns</a:t>
            </a:r>
            <a:r>
              <a:rPr lang="en-US" sz="1700" dirty="0"/>
              <a:t>: AGVs with a smaller turning radius (e.g., omni-directional vehicles) can navigate tight spaces more efficiently, which could reduce the need for long detours or unnecessary maneuvers. When an AGV is forced to take wide turns, it might have to travel longer distances, consuming more energy to complete the same task.</a:t>
            </a:r>
          </a:p>
          <a:p>
            <a:pPr>
              <a:buFont typeface="Arial"/>
              <a:buChar char="▪"/>
            </a:pPr>
            <a:r>
              <a:rPr lang="en-US" sz="1700" b="1" dirty="0"/>
              <a:t>Energy Loss in Turns</a:t>
            </a:r>
            <a:r>
              <a:rPr lang="en-US" sz="1700" dirty="0"/>
              <a:t>: When an AGV executes a turn, especially at higher speeds or sharper angles, energy is lost in overcoming inertia and friction. Wider turns, or frequent turns, increase energy consumption due to additional steering work and the need for more frequent adjustments in speed.</a:t>
            </a:r>
          </a:p>
          <a:p>
            <a:pPr marL="0" indent="0">
              <a:buNone/>
            </a:pPr>
            <a:r>
              <a:rPr lang="en-US" sz="1700" b="1" dirty="0"/>
              <a:t>Speed and Energy Optimization</a:t>
            </a:r>
            <a:endParaRPr lang="en-US" sz="1700" dirty="0"/>
          </a:p>
          <a:p>
            <a:pPr>
              <a:buFont typeface="Arial"/>
              <a:buChar char="▪"/>
            </a:pPr>
            <a:r>
              <a:rPr lang="en-US" sz="1700" b="1" dirty="0"/>
              <a:t>Speed and Power Consumption</a:t>
            </a:r>
            <a:r>
              <a:rPr lang="en-US" sz="1700" dirty="0"/>
              <a:t>: The speed of an AGV is directly proportional to its energy consumption. At higher speeds, AGVs use more energy due to increased power requirements for maintaining speed, especially when moving over long distances or when carrying heavier loads.</a:t>
            </a:r>
          </a:p>
          <a:p>
            <a:pPr marL="834390" lvl="1" indent="-285750">
              <a:buFont typeface="Consolas"/>
              <a:buChar char="–"/>
            </a:pPr>
            <a:r>
              <a:rPr lang="en-US" sz="1700" b="1" dirty="0"/>
              <a:t>High Speeds = High Energy Use</a:t>
            </a:r>
            <a:endParaRPr lang="en-US" sz="1700" dirty="0"/>
          </a:p>
          <a:p>
            <a:pPr marL="834390" lvl="1" indent="-285750">
              <a:buFont typeface="Consolas"/>
              <a:buChar char="–"/>
            </a:pPr>
            <a:r>
              <a:rPr lang="en-US" sz="1700" b="1" dirty="0"/>
              <a:t>Lower Speeds = Energy Saving</a:t>
            </a:r>
            <a:endParaRPr lang="en-US" sz="1700" dirty="0"/>
          </a:p>
          <a:p>
            <a:pPr marL="0" indent="0">
              <a:buNone/>
            </a:pPr>
            <a:r>
              <a:rPr lang="en-US" sz="1700" b="1" dirty="0"/>
              <a:t>Acceleration and Deceleration Impact</a:t>
            </a:r>
            <a:endParaRPr lang="en-US" sz="1700" dirty="0"/>
          </a:p>
          <a:p>
            <a:pPr>
              <a:buFont typeface="Arial"/>
              <a:buChar char="▪"/>
            </a:pPr>
            <a:r>
              <a:rPr lang="en-US" sz="1700" b="1" dirty="0"/>
              <a:t>Energy Consumption During Acceleration</a:t>
            </a:r>
            <a:r>
              <a:rPr lang="en-US" sz="1700" dirty="0"/>
              <a:t>: Rapid acceleration requires more energy, as the AGV must quickly overcome inertia to increase speed. Frequent acceleration and deceleration cycles consume more energy because the motors have to work harder to reach the desired speeds.</a:t>
            </a:r>
          </a:p>
          <a:p>
            <a:pPr>
              <a:buFont typeface="Arial"/>
              <a:buChar char="▪"/>
            </a:pPr>
            <a:r>
              <a:rPr lang="en-US" sz="1700" b="1" dirty="0"/>
              <a:t>Energy Savings from Smooth Acceleration</a:t>
            </a:r>
            <a:r>
              <a:rPr lang="en-US" sz="1700" dirty="0"/>
              <a:t>: Path planning algorithms can smooth out acceleration and deceleration rates, preventing rapid starts and stops. Gradual acceleration helps reduce peak power demands, resulting in less energy usage and improved battery life.</a:t>
            </a:r>
          </a:p>
          <a:p>
            <a:pPr>
              <a:buFont typeface="Arial"/>
              <a:buChar char="▪"/>
            </a:pPr>
            <a:r>
              <a:rPr lang="en-US" sz="1700" b="1" dirty="0"/>
              <a:t>Smooth Deceleration</a:t>
            </a:r>
            <a:r>
              <a:rPr lang="en-US" sz="1700" dirty="0"/>
              <a:t>: Similarly, planning for smoother deceleration rather than sudden stops reduces energy losses. Abrupt deceleration wastes energy, as the motors must convert excess kinetic energy into heat or brake wear</a:t>
            </a:r>
            <a:r>
              <a:rPr lang="en-US" dirty="0">
                <a:ea typeface="+mn-lt"/>
                <a:cs typeface="+mn-lt"/>
              </a:rPr>
              <a:t>.</a:t>
            </a:r>
            <a:endParaRPr lang="en-US" dirty="0"/>
          </a:p>
          <a:p>
            <a:pPr lvl="1" indent="0">
              <a:buNone/>
            </a:pPr>
            <a:endParaRPr lang="en-US" b="1" dirty="0">
              <a:ea typeface="+mn-lt"/>
              <a:cs typeface="+mn-lt"/>
            </a:endParaRPr>
          </a:p>
          <a:p>
            <a:pPr lvl="1" indent="0">
              <a:buNone/>
            </a:pPr>
            <a:endParaRPr lang="en-US" b="1" dirty="0">
              <a:ea typeface="+mn-lt"/>
              <a:cs typeface="+mn-lt"/>
            </a:endParaRPr>
          </a:p>
        </p:txBody>
      </p:sp>
      <p:sp>
        <p:nvSpPr>
          <p:cNvPr id="4" name="TextBox 3">
            <a:extLst>
              <a:ext uri="{FF2B5EF4-FFF2-40B4-BE49-F238E27FC236}">
                <a16:creationId xmlns:a16="http://schemas.microsoft.com/office/drawing/2014/main" id="{C51050E6-571F-F9DD-6032-1C5A7192DA1C}"/>
              </a:ext>
            </a:extLst>
          </p:cNvPr>
          <p:cNvSpPr txBox="1"/>
          <p:nvPr/>
        </p:nvSpPr>
        <p:spPr>
          <a:xfrm>
            <a:off x="10285412" y="6299382"/>
            <a:ext cx="1707388" cy="424732"/>
          </a:xfrm>
          <a:prstGeom prst="rect">
            <a:avLst/>
          </a:prstGeom>
          <a:noFill/>
        </p:spPr>
        <p:txBody>
          <a:bodyPr wrap="square" rtlCol="0">
            <a:spAutoFit/>
          </a:bodyPr>
          <a:lstStyle/>
          <a:p>
            <a:pPr>
              <a:lnSpc>
                <a:spcPct val="90000"/>
              </a:lnSpc>
            </a:pPr>
            <a:r>
              <a:rPr lang="en-US" sz="2400" dirty="0">
                <a:solidFill>
                  <a:schemeClr val="accent1"/>
                </a:solidFill>
              </a:rPr>
              <a:t> Constraints </a:t>
            </a:r>
            <a:endParaRPr lang="en-IN" sz="2400" dirty="0">
              <a:solidFill>
                <a:schemeClr val="accent1"/>
              </a:solidFill>
            </a:endParaRPr>
          </a:p>
        </p:txBody>
      </p:sp>
    </p:spTree>
    <p:extLst>
      <p:ext uri="{BB962C8B-B14F-4D97-AF65-F5344CB8AC3E}">
        <p14:creationId xmlns:p14="http://schemas.microsoft.com/office/powerpoint/2010/main" val="9728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A122-52BF-B78B-2C00-DC05393CF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CF8C3-E40A-F1AE-39AC-303E308954F0}"/>
              </a:ext>
            </a:extLst>
          </p:cNvPr>
          <p:cNvSpPr>
            <a:spLocks noGrp="1"/>
          </p:cNvSpPr>
          <p:nvPr>
            <p:ph type="title"/>
          </p:nvPr>
        </p:nvSpPr>
        <p:spPr>
          <a:xfrm>
            <a:off x="1598612" y="304800"/>
            <a:ext cx="10337155" cy="1020762"/>
          </a:xfrm>
        </p:spPr>
        <p:txBody>
          <a:bodyPr/>
          <a:lstStyle/>
          <a:p>
            <a:r>
              <a:rPr lang="en-US" dirty="0"/>
              <a:t>Addressing the Key Factors</a:t>
            </a:r>
          </a:p>
        </p:txBody>
      </p:sp>
      <p:sp>
        <p:nvSpPr>
          <p:cNvPr id="6" name="Content Placeholder 5">
            <a:extLst>
              <a:ext uri="{FF2B5EF4-FFF2-40B4-BE49-F238E27FC236}">
                <a16:creationId xmlns:a16="http://schemas.microsoft.com/office/drawing/2014/main" id="{28F3E0A9-36CE-1902-91E5-B9CAEA358E4B}"/>
              </a:ext>
            </a:extLst>
          </p:cNvPr>
          <p:cNvSpPr>
            <a:spLocks noGrp="1"/>
          </p:cNvSpPr>
          <p:nvPr>
            <p:ph idx="1"/>
          </p:nvPr>
        </p:nvSpPr>
        <p:spPr>
          <a:xfrm>
            <a:off x="405455" y="1854786"/>
            <a:ext cx="11377917" cy="4392905"/>
          </a:xfrm>
        </p:spPr>
        <p:txBody>
          <a:bodyPr vert="horz" lIns="91440" tIns="45720" rIns="91440" bIns="45720" rtlCol="0" anchor="t">
            <a:normAutofit fontScale="70000" lnSpcReduction="20000"/>
          </a:bodyPr>
          <a:lstStyle/>
          <a:p>
            <a:pPr>
              <a:buNone/>
            </a:pPr>
            <a:r>
              <a:rPr lang="en-US" b="1" dirty="0"/>
              <a:t>Load Impact on Energy Usage</a:t>
            </a:r>
            <a:endParaRPr lang="en-US" dirty="0"/>
          </a:p>
          <a:p>
            <a:pPr>
              <a:buFont typeface="Arial"/>
              <a:buChar char="▪"/>
            </a:pPr>
            <a:r>
              <a:rPr lang="en-US" b="1" dirty="0">
                <a:ea typeface="+mn-lt"/>
                <a:cs typeface="+mn-lt"/>
              </a:rPr>
              <a:t>Heavy Loads Require More Energy</a:t>
            </a:r>
            <a:r>
              <a:rPr lang="en-US" dirty="0">
                <a:ea typeface="+mn-lt"/>
                <a:cs typeface="+mn-lt"/>
              </a:rPr>
              <a:t>: The energy consumption of an AGV increases with the load it is carrying. When carrying a heavier load, the motors need more power to move the AGV, particularly during acceleration, turns, and when moving up ramps or inclines.</a:t>
            </a:r>
            <a:endParaRPr lang="en-US" dirty="0"/>
          </a:p>
          <a:p>
            <a:pPr>
              <a:buFont typeface="Arial"/>
              <a:buChar char="▪"/>
            </a:pPr>
            <a:r>
              <a:rPr lang="en-US" b="1" dirty="0">
                <a:ea typeface="+mn-lt"/>
                <a:cs typeface="+mn-lt"/>
              </a:rPr>
              <a:t>Adaptive Path Planning for Load</a:t>
            </a:r>
            <a:r>
              <a:rPr lang="en-US" dirty="0">
                <a:ea typeface="+mn-lt"/>
                <a:cs typeface="+mn-lt"/>
              </a:rPr>
              <a:t>: Energy optimization should consider the weight of the load when planning the AGV’s route. Heavier loads may require slower speeds or specific routes to reduce strain on the AGV and lower energy consumption.</a:t>
            </a:r>
            <a:endParaRPr lang="en-US" dirty="0"/>
          </a:p>
          <a:p>
            <a:pPr>
              <a:buFont typeface="Arial"/>
              <a:buChar char="▪"/>
            </a:pPr>
            <a:r>
              <a:rPr lang="en-US" b="1" dirty="0">
                <a:ea typeface="+mn-lt"/>
                <a:cs typeface="+mn-lt"/>
              </a:rPr>
              <a:t>Load Balancing</a:t>
            </a:r>
            <a:r>
              <a:rPr lang="en-US" dirty="0">
                <a:ea typeface="+mn-lt"/>
                <a:cs typeface="+mn-lt"/>
              </a:rPr>
              <a:t>: In scenarios where multiple AGVs are being used, load balancing across the fleet can help optimize overall energy consumption. Distributing heavy loads more evenly across different AGVs prevents any one vehicle from working harder than necessary.</a:t>
            </a:r>
            <a:endParaRPr lang="en-US" dirty="0"/>
          </a:p>
          <a:p>
            <a:pPr marL="0" indent="0">
              <a:buNone/>
            </a:pPr>
            <a:r>
              <a:rPr lang="en-US" b="1" dirty="0"/>
              <a:t>Battery Management and Charging Efficiency</a:t>
            </a:r>
            <a:endParaRPr lang="en-US" dirty="0"/>
          </a:p>
          <a:p>
            <a:pPr>
              <a:buFont typeface="Arial"/>
              <a:buChar char="▪"/>
            </a:pPr>
            <a:r>
              <a:rPr lang="en-US" b="1" dirty="0">
                <a:ea typeface="+mn-lt"/>
                <a:cs typeface="+mn-lt"/>
              </a:rPr>
              <a:t>Efficient Use of Battery</a:t>
            </a:r>
            <a:r>
              <a:rPr lang="en-US" dirty="0">
                <a:ea typeface="+mn-lt"/>
                <a:cs typeface="+mn-lt"/>
              </a:rPr>
              <a:t>: Path planning should also consider battery levels. AGVs with low battery levels can reduce speed or choose the shortest path to return to a charging station, preventing sudden power depletion during critical tasks.</a:t>
            </a:r>
            <a:endParaRPr lang="en-US" dirty="0"/>
          </a:p>
          <a:p>
            <a:pPr>
              <a:buFont typeface="Arial"/>
              <a:buChar char="▪"/>
            </a:pPr>
            <a:r>
              <a:rPr lang="en-US" b="1" dirty="0">
                <a:ea typeface="+mn-lt"/>
                <a:cs typeface="+mn-lt"/>
              </a:rPr>
              <a:t>Battery Regeneration and Maintenance</a:t>
            </a:r>
            <a:r>
              <a:rPr lang="en-US" dirty="0">
                <a:ea typeface="+mn-lt"/>
                <a:cs typeface="+mn-lt"/>
              </a:rPr>
              <a:t>: Some advanced AGVs include systems that regenerate energy while moving downhill or during braking. Ensuring that these regenerative features are used effectively can help reduce the overall power consumption</a:t>
            </a:r>
            <a:endParaRPr lang="en-US" dirty="0"/>
          </a:p>
          <a:p>
            <a:pPr>
              <a:buNone/>
            </a:pPr>
            <a:endParaRPr lang="en-US" b="1" dirty="0">
              <a:ea typeface="+mn-lt"/>
              <a:cs typeface="+mn-lt"/>
            </a:endParaRPr>
          </a:p>
        </p:txBody>
      </p:sp>
      <p:sp>
        <p:nvSpPr>
          <p:cNvPr id="3" name="TextBox 2">
            <a:extLst>
              <a:ext uri="{FF2B5EF4-FFF2-40B4-BE49-F238E27FC236}">
                <a16:creationId xmlns:a16="http://schemas.microsoft.com/office/drawing/2014/main" id="{3B8250CD-EBDB-9C2E-008D-E2E822800372}"/>
              </a:ext>
            </a:extLst>
          </p:cNvPr>
          <p:cNvSpPr txBox="1"/>
          <p:nvPr/>
        </p:nvSpPr>
        <p:spPr>
          <a:xfrm>
            <a:off x="10285412" y="6299382"/>
            <a:ext cx="1707388" cy="424732"/>
          </a:xfrm>
          <a:prstGeom prst="rect">
            <a:avLst/>
          </a:prstGeom>
          <a:noFill/>
        </p:spPr>
        <p:txBody>
          <a:bodyPr wrap="square" rtlCol="0">
            <a:spAutoFit/>
          </a:bodyPr>
          <a:lstStyle/>
          <a:p>
            <a:pPr>
              <a:lnSpc>
                <a:spcPct val="90000"/>
              </a:lnSpc>
            </a:pPr>
            <a:r>
              <a:rPr lang="en-US" sz="2400" dirty="0">
                <a:solidFill>
                  <a:schemeClr val="accent1"/>
                </a:solidFill>
              </a:rPr>
              <a:t> Constraints </a:t>
            </a:r>
            <a:endParaRPr lang="en-IN" sz="2400" dirty="0">
              <a:solidFill>
                <a:schemeClr val="accent1"/>
              </a:solidFill>
            </a:endParaRPr>
          </a:p>
        </p:txBody>
      </p:sp>
    </p:spTree>
    <p:extLst>
      <p:ext uri="{BB962C8B-B14F-4D97-AF65-F5344CB8AC3E}">
        <p14:creationId xmlns:p14="http://schemas.microsoft.com/office/powerpoint/2010/main" val="1067685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FE15-69A6-17B4-4ABB-37460F7547B3}"/>
              </a:ext>
            </a:extLst>
          </p:cNvPr>
          <p:cNvSpPr>
            <a:spLocks noGrp="1"/>
          </p:cNvSpPr>
          <p:nvPr>
            <p:ph type="title"/>
          </p:nvPr>
        </p:nvSpPr>
        <p:spPr/>
        <p:txBody>
          <a:bodyPr/>
          <a:lstStyle/>
          <a:p>
            <a:r>
              <a:rPr lang="en-US" dirty="0"/>
              <a:t>ERM for energy optimization</a:t>
            </a:r>
          </a:p>
        </p:txBody>
      </p:sp>
      <p:sp>
        <p:nvSpPr>
          <p:cNvPr id="3" name="Content Placeholder 2">
            <a:extLst>
              <a:ext uri="{FF2B5EF4-FFF2-40B4-BE49-F238E27FC236}">
                <a16:creationId xmlns:a16="http://schemas.microsoft.com/office/drawing/2014/main" id="{F515CE02-AAF5-A2F1-FC55-701F7CC87040}"/>
              </a:ext>
            </a:extLst>
          </p:cNvPr>
          <p:cNvSpPr>
            <a:spLocks noGrp="1"/>
          </p:cNvSpPr>
          <p:nvPr>
            <p:ph idx="1"/>
          </p:nvPr>
        </p:nvSpPr>
        <p:spPr>
          <a:xfrm>
            <a:off x="196025" y="2575436"/>
            <a:ext cx="3531275" cy="4169429"/>
          </a:xfrm>
        </p:spPr>
        <p:txBody>
          <a:bodyPr vert="horz" lIns="91440" tIns="45720" rIns="91440" bIns="45720" rtlCol="0" anchor="t">
            <a:normAutofit/>
          </a:bodyPr>
          <a:lstStyle/>
          <a:p>
            <a:r>
              <a:rPr lang="en-US" sz="1700" dirty="0">
                <a:ea typeface="+mn-lt"/>
                <a:cs typeface="+mn-lt"/>
              </a:rPr>
              <a:t>In order to model an energy requirement of AGVs, components of an AGV that have an energy requirement must be defined first. </a:t>
            </a:r>
          </a:p>
          <a:p>
            <a:r>
              <a:rPr lang="en-US" sz="1700" dirty="0">
                <a:ea typeface="+mn-lt"/>
                <a:cs typeface="+mn-lt"/>
              </a:rPr>
              <a:t>In the next step, the power requirement of the respective system components was defined as a function of its influencing factors. </a:t>
            </a:r>
          </a:p>
          <a:p>
            <a:r>
              <a:rPr lang="en-US" sz="1700" dirty="0">
                <a:ea typeface="+mn-lt"/>
                <a:cs typeface="+mn-lt"/>
              </a:rPr>
              <a:t>Finally, the total energy requirement can be determined by summing up the power requirements of the respective system components over time.</a:t>
            </a:r>
            <a:endParaRPr lang="en-US" sz="1700" dirty="0"/>
          </a:p>
        </p:txBody>
      </p:sp>
      <p:pic>
        <p:nvPicPr>
          <p:cNvPr id="4" name="Picture 3" descr="A diagram of a circuit&#10;&#10;AI-generated content may be incorrect.">
            <a:extLst>
              <a:ext uri="{FF2B5EF4-FFF2-40B4-BE49-F238E27FC236}">
                <a16:creationId xmlns:a16="http://schemas.microsoft.com/office/drawing/2014/main" id="{86D784F5-634F-A7EF-8BA7-1F69B1169343}"/>
              </a:ext>
            </a:extLst>
          </p:cNvPr>
          <p:cNvPicPr>
            <a:picLocks noChangeAspect="1"/>
          </p:cNvPicPr>
          <p:nvPr/>
        </p:nvPicPr>
        <p:blipFill>
          <a:blip r:embed="rId2"/>
          <a:stretch>
            <a:fillRect/>
          </a:stretch>
        </p:blipFill>
        <p:spPr>
          <a:xfrm>
            <a:off x="3726554" y="2576999"/>
            <a:ext cx="4473328" cy="2933137"/>
          </a:xfrm>
          <a:prstGeom prst="rect">
            <a:avLst/>
          </a:prstGeom>
        </p:spPr>
      </p:pic>
      <p:sp>
        <p:nvSpPr>
          <p:cNvPr id="5" name="TextBox 4">
            <a:extLst>
              <a:ext uri="{FF2B5EF4-FFF2-40B4-BE49-F238E27FC236}">
                <a16:creationId xmlns:a16="http://schemas.microsoft.com/office/drawing/2014/main" id="{354B5F2A-0DAE-1D2A-AF25-56A2EFA31C44}"/>
              </a:ext>
            </a:extLst>
          </p:cNvPr>
          <p:cNvSpPr txBox="1"/>
          <p:nvPr/>
        </p:nvSpPr>
        <p:spPr>
          <a:xfrm>
            <a:off x="8297084" y="1901431"/>
            <a:ext cx="3971854" cy="13388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dirty="0"/>
              <a:t>Drives include the electrical power of the drives and </a:t>
            </a:r>
            <a:r>
              <a:rPr lang="en-US" sz="1700" dirty="0"/>
              <a:t>motor</a:t>
            </a:r>
            <a:r>
              <a:rPr lang="en-US" dirty="0"/>
              <a:t> controls as a function of velocity, acceleration, and the weight of the load being transported. </a:t>
            </a:r>
          </a:p>
        </p:txBody>
      </p:sp>
      <p:sp>
        <p:nvSpPr>
          <p:cNvPr id="6" name="TextBox 5">
            <a:extLst>
              <a:ext uri="{FF2B5EF4-FFF2-40B4-BE49-F238E27FC236}">
                <a16:creationId xmlns:a16="http://schemas.microsoft.com/office/drawing/2014/main" id="{4ED487D3-4367-8F5C-64DA-4DEDBD8199D9}"/>
              </a:ext>
            </a:extLst>
          </p:cNvPr>
          <p:cNvSpPr txBox="1"/>
          <p:nvPr/>
        </p:nvSpPr>
        <p:spPr>
          <a:xfrm>
            <a:off x="8297084" y="3521651"/>
            <a:ext cx="3985819" cy="15050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700" dirty="0"/>
              <a:t>Controls include all components that are responsible for control, communication, navigation, and localization, as well as system safety. This includes, for example, lighting equipment, safety controls, and safety sensors.</a:t>
            </a:r>
          </a:p>
        </p:txBody>
      </p:sp>
      <p:sp>
        <p:nvSpPr>
          <p:cNvPr id="7" name="TextBox 6">
            <a:extLst>
              <a:ext uri="{FF2B5EF4-FFF2-40B4-BE49-F238E27FC236}">
                <a16:creationId xmlns:a16="http://schemas.microsoft.com/office/drawing/2014/main" id="{C14DB945-C7B5-FCDC-DD63-A01B42CECED4}"/>
              </a:ext>
            </a:extLst>
          </p:cNvPr>
          <p:cNvSpPr txBox="1"/>
          <p:nvPr/>
        </p:nvSpPr>
        <p:spPr>
          <a:xfrm>
            <a:off x="8297084" y="5491056"/>
            <a:ext cx="3678653" cy="5632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700" dirty="0"/>
              <a:t>LHD includes all components that are involved in the load-handling process.</a:t>
            </a:r>
          </a:p>
        </p:txBody>
      </p:sp>
      <p:sp>
        <p:nvSpPr>
          <p:cNvPr id="9" name="Title 1">
            <a:extLst>
              <a:ext uri="{FF2B5EF4-FFF2-40B4-BE49-F238E27FC236}">
                <a16:creationId xmlns:a16="http://schemas.microsoft.com/office/drawing/2014/main" id="{9239E502-628A-83D4-F942-07BFAB88020F}"/>
              </a:ext>
            </a:extLst>
          </p:cNvPr>
          <p:cNvSpPr txBox="1">
            <a:spLocks/>
          </p:cNvSpPr>
          <p:nvPr/>
        </p:nvSpPr>
        <p:spPr>
          <a:xfrm>
            <a:off x="474082" y="1097473"/>
            <a:ext cx="6239902" cy="102076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dirty="0"/>
              <a:t>Component analysis :</a:t>
            </a:r>
          </a:p>
        </p:txBody>
      </p:sp>
      <p:sp>
        <p:nvSpPr>
          <p:cNvPr id="11" name="TextBox 10">
            <a:extLst>
              <a:ext uri="{FF2B5EF4-FFF2-40B4-BE49-F238E27FC236}">
                <a16:creationId xmlns:a16="http://schemas.microsoft.com/office/drawing/2014/main" id="{1A2B8BEC-754E-AF17-8E67-3A6BA65BD7F8}"/>
              </a:ext>
            </a:extLst>
          </p:cNvPr>
          <p:cNvSpPr txBox="1"/>
          <p:nvPr/>
        </p:nvSpPr>
        <p:spPr>
          <a:xfrm>
            <a:off x="11002200" y="6299382"/>
            <a:ext cx="990600" cy="438566"/>
          </a:xfrm>
          <a:prstGeom prst="rect">
            <a:avLst/>
          </a:prstGeom>
          <a:noFill/>
        </p:spPr>
        <p:txBody>
          <a:bodyPr wrap="square" rtlCol="0">
            <a:spAutoFit/>
          </a:bodyPr>
          <a:lstStyle/>
          <a:p>
            <a:pPr>
              <a:lnSpc>
                <a:spcPct val="90000"/>
              </a:lnSpc>
            </a:pPr>
            <a:r>
              <a:rPr lang="en-US" sz="2400" dirty="0">
                <a:solidFill>
                  <a:schemeClr val="accent1"/>
                </a:solidFill>
              </a:rPr>
              <a:t> Paper </a:t>
            </a:r>
            <a:endParaRPr lang="en-IN" sz="2400" dirty="0">
              <a:solidFill>
                <a:schemeClr val="accent1"/>
              </a:solidFill>
            </a:endParaRPr>
          </a:p>
        </p:txBody>
      </p:sp>
    </p:spTree>
    <p:extLst>
      <p:ext uri="{BB962C8B-B14F-4D97-AF65-F5344CB8AC3E}">
        <p14:creationId xmlns:p14="http://schemas.microsoft.com/office/powerpoint/2010/main" val="308100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diagram of a algorithm&#10;&#10;AI-generated content may be incorrect.">
            <a:extLst>
              <a:ext uri="{FF2B5EF4-FFF2-40B4-BE49-F238E27FC236}">
                <a16:creationId xmlns:a16="http://schemas.microsoft.com/office/drawing/2014/main" id="{16BF3169-C7B3-55B8-0AC1-E6695E9CE1DC}"/>
              </a:ext>
            </a:extLst>
          </p:cNvPr>
          <p:cNvPicPr>
            <a:picLocks noGrp="1" noChangeAspect="1"/>
          </p:cNvPicPr>
          <p:nvPr>
            <p:ph idx="1"/>
          </p:nvPr>
        </p:nvPicPr>
        <p:blipFill>
          <a:blip r:embed="rId2"/>
          <a:stretch>
            <a:fillRect/>
          </a:stretch>
        </p:blipFill>
        <p:spPr>
          <a:xfrm>
            <a:off x="4800080" y="2686668"/>
            <a:ext cx="7159476" cy="2793430"/>
          </a:xfrm>
        </p:spPr>
      </p:pic>
      <p:sp>
        <p:nvSpPr>
          <p:cNvPr id="5" name="Title 1">
            <a:extLst>
              <a:ext uri="{FF2B5EF4-FFF2-40B4-BE49-F238E27FC236}">
                <a16:creationId xmlns:a16="http://schemas.microsoft.com/office/drawing/2014/main" id="{4FBFED49-D61A-3F90-7D82-6E56C5BC1853}"/>
              </a:ext>
            </a:extLst>
          </p:cNvPr>
          <p:cNvSpPr txBox="1">
            <a:spLocks/>
          </p:cNvSpPr>
          <p:nvPr/>
        </p:nvSpPr>
        <p:spPr>
          <a:xfrm>
            <a:off x="361462" y="1297603"/>
            <a:ext cx="6239902" cy="102076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dirty="0"/>
              <a:t>Process and impact analysis :</a:t>
            </a:r>
          </a:p>
        </p:txBody>
      </p:sp>
      <p:sp>
        <p:nvSpPr>
          <p:cNvPr id="7" name="Title 1">
            <a:extLst>
              <a:ext uri="{FF2B5EF4-FFF2-40B4-BE49-F238E27FC236}">
                <a16:creationId xmlns:a16="http://schemas.microsoft.com/office/drawing/2014/main" id="{96063F53-CC5A-A8DF-71E7-8A1FA27D1360}"/>
              </a:ext>
            </a:extLst>
          </p:cNvPr>
          <p:cNvSpPr>
            <a:spLocks noGrp="1"/>
          </p:cNvSpPr>
          <p:nvPr>
            <p:ph type="title"/>
          </p:nvPr>
        </p:nvSpPr>
        <p:spPr>
          <a:xfrm>
            <a:off x="1522414" y="274638"/>
            <a:ext cx="9143998" cy="1020762"/>
          </a:xfrm>
        </p:spPr>
        <p:txBody>
          <a:bodyPr/>
          <a:lstStyle/>
          <a:p>
            <a:r>
              <a:rPr lang="en-US" dirty="0"/>
              <a:t>ERM for energy optimization</a:t>
            </a:r>
          </a:p>
        </p:txBody>
      </p:sp>
      <p:pic>
        <p:nvPicPr>
          <p:cNvPr id="10" name="Picture 9">
            <a:extLst>
              <a:ext uri="{FF2B5EF4-FFF2-40B4-BE49-F238E27FC236}">
                <a16:creationId xmlns:a16="http://schemas.microsoft.com/office/drawing/2014/main" id="{A0954572-2452-78EE-2D3A-E69545FF3027}"/>
              </a:ext>
            </a:extLst>
          </p:cNvPr>
          <p:cNvPicPr>
            <a:picLocks noChangeAspect="1"/>
          </p:cNvPicPr>
          <p:nvPr/>
        </p:nvPicPr>
        <p:blipFill>
          <a:blip r:embed="rId3"/>
          <a:stretch>
            <a:fillRect/>
          </a:stretch>
        </p:blipFill>
        <p:spPr>
          <a:xfrm>
            <a:off x="7182913" y="5765611"/>
            <a:ext cx="2382853" cy="419100"/>
          </a:xfrm>
          <a:prstGeom prst="rect">
            <a:avLst/>
          </a:prstGeom>
        </p:spPr>
      </p:pic>
      <p:sp>
        <p:nvSpPr>
          <p:cNvPr id="12" name="TextBox 11">
            <a:extLst>
              <a:ext uri="{FF2B5EF4-FFF2-40B4-BE49-F238E27FC236}">
                <a16:creationId xmlns:a16="http://schemas.microsoft.com/office/drawing/2014/main" id="{FAAA06C5-300B-11C6-97A6-81EC2CEB2BA4}"/>
              </a:ext>
            </a:extLst>
          </p:cNvPr>
          <p:cNvSpPr txBox="1"/>
          <p:nvPr/>
        </p:nvSpPr>
        <p:spPr>
          <a:xfrm>
            <a:off x="356857" y="2688609"/>
            <a:ext cx="4113162" cy="33886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700" dirty="0"/>
              <a:t>The paper performs a qualitative process analysis to identify the process states of AGVs. The analysis reveals 10 different states that describe the process behavior of AGVs, including:</a:t>
            </a:r>
          </a:p>
          <a:p>
            <a:pPr>
              <a:lnSpc>
                <a:spcPct val="90000"/>
              </a:lnSpc>
              <a:buFont typeface=""/>
              <a:buAutoNum type="arabicPeriod"/>
            </a:pPr>
            <a:r>
              <a:rPr lang="en-US" sz="1700" dirty="0"/>
              <a:t>Acceleration</a:t>
            </a:r>
          </a:p>
          <a:p>
            <a:pPr>
              <a:lnSpc>
                <a:spcPct val="90000"/>
              </a:lnSpc>
              <a:buFont typeface=""/>
              <a:buAutoNum type="arabicPeriod"/>
            </a:pPr>
            <a:r>
              <a:rPr lang="en-US" sz="1700" dirty="0"/>
              <a:t>Constant drive</a:t>
            </a:r>
          </a:p>
          <a:p>
            <a:pPr>
              <a:lnSpc>
                <a:spcPct val="90000"/>
              </a:lnSpc>
              <a:buFont typeface=""/>
              <a:buAutoNum type="arabicPeriod"/>
            </a:pPr>
            <a:r>
              <a:rPr lang="en-US" sz="1700" dirty="0"/>
              <a:t>Deceleration</a:t>
            </a:r>
          </a:p>
          <a:p>
            <a:pPr>
              <a:lnSpc>
                <a:spcPct val="90000"/>
              </a:lnSpc>
              <a:buFont typeface=""/>
              <a:buAutoNum type="arabicPeriod"/>
            </a:pPr>
            <a:r>
              <a:rPr lang="en-US" sz="1700" dirty="0"/>
              <a:t>Prepare docking</a:t>
            </a:r>
          </a:p>
          <a:p>
            <a:pPr>
              <a:lnSpc>
                <a:spcPct val="90000"/>
              </a:lnSpc>
              <a:buFont typeface=""/>
              <a:buAutoNum type="arabicPeriod"/>
            </a:pPr>
            <a:r>
              <a:rPr lang="en-US" sz="1700" dirty="0"/>
              <a:t>Dock</a:t>
            </a:r>
          </a:p>
          <a:p>
            <a:pPr>
              <a:lnSpc>
                <a:spcPct val="90000"/>
              </a:lnSpc>
              <a:buFont typeface=""/>
              <a:buAutoNum type="arabicPeriod"/>
            </a:pPr>
            <a:r>
              <a:rPr lang="en-US" sz="1700" dirty="0"/>
              <a:t>Load handling (pick up and drop off)</a:t>
            </a:r>
          </a:p>
          <a:p>
            <a:pPr>
              <a:lnSpc>
                <a:spcPct val="90000"/>
              </a:lnSpc>
              <a:buFont typeface=""/>
              <a:buAutoNum type="arabicPeriod"/>
            </a:pPr>
            <a:r>
              <a:rPr lang="en-US" sz="1700" dirty="0"/>
              <a:t>Standby</a:t>
            </a:r>
          </a:p>
          <a:p>
            <a:pPr>
              <a:lnSpc>
                <a:spcPct val="90000"/>
              </a:lnSpc>
              <a:buFont typeface=""/>
              <a:buAutoNum type="arabicPeriod"/>
            </a:pPr>
            <a:r>
              <a:rPr lang="en-US" sz="1700" dirty="0"/>
              <a:t>Prepare driving</a:t>
            </a:r>
          </a:p>
          <a:p>
            <a:pPr>
              <a:lnSpc>
                <a:spcPct val="90000"/>
              </a:lnSpc>
              <a:buFont typeface=""/>
              <a:buAutoNum type="arabicPeriod"/>
            </a:pPr>
            <a:r>
              <a:rPr lang="en-US" sz="1700" dirty="0"/>
              <a:t>Undock</a:t>
            </a:r>
          </a:p>
        </p:txBody>
      </p:sp>
      <p:sp>
        <p:nvSpPr>
          <p:cNvPr id="2" name="TextBox 1">
            <a:extLst>
              <a:ext uri="{FF2B5EF4-FFF2-40B4-BE49-F238E27FC236}">
                <a16:creationId xmlns:a16="http://schemas.microsoft.com/office/drawing/2014/main" id="{8CFD060A-B27D-B3F2-FE7B-48AEFF6FBAE6}"/>
              </a:ext>
            </a:extLst>
          </p:cNvPr>
          <p:cNvSpPr txBox="1"/>
          <p:nvPr/>
        </p:nvSpPr>
        <p:spPr>
          <a:xfrm>
            <a:off x="11002200" y="6299382"/>
            <a:ext cx="990600" cy="438566"/>
          </a:xfrm>
          <a:prstGeom prst="rect">
            <a:avLst/>
          </a:prstGeom>
          <a:noFill/>
        </p:spPr>
        <p:txBody>
          <a:bodyPr wrap="square" rtlCol="0">
            <a:spAutoFit/>
          </a:bodyPr>
          <a:lstStyle/>
          <a:p>
            <a:pPr>
              <a:lnSpc>
                <a:spcPct val="90000"/>
              </a:lnSpc>
            </a:pPr>
            <a:r>
              <a:rPr lang="en-US" sz="2400" dirty="0">
                <a:solidFill>
                  <a:schemeClr val="accent1"/>
                </a:solidFill>
              </a:rPr>
              <a:t> Paper </a:t>
            </a:r>
            <a:endParaRPr lang="en-IN" sz="2400" dirty="0">
              <a:solidFill>
                <a:schemeClr val="accent1"/>
              </a:solidFill>
            </a:endParaRPr>
          </a:p>
        </p:txBody>
      </p:sp>
    </p:spTree>
    <p:extLst>
      <p:ext uri="{BB962C8B-B14F-4D97-AF65-F5344CB8AC3E}">
        <p14:creationId xmlns:p14="http://schemas.microsoft.com/office/powerpoint/2010/main" val="82489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7B89F4-B09B-925D-7833-5E7CD20EC70E}"/>
              </a:ext>
            </a:extLst>
          </p:cNvPr>
          <p:cNvSpPr>
            <a:spLocks noGrp="1"/>
          </p:cNvSpPr>
          <p:nvPr>
            <p:ph idx="1"/>
          </p:nvPr>
        </p:nvSpPr>
        <p:spPr>
          <a:xfrm>
            <a:off x="907852" y="2327228"/>
            <a:ext cx="5187753" cy="4267200"/>
          </a:xfrm>
        </p:spPr>
        <p:txBody>
          <a:bodyPr vert="horz" lIns="91440" tIns="45720" rIns="91440" bIns="45720" rtlCol="0" anchor="t">
            <a:normAutofit/>
          </a:bodyPr>
          <a:lstStyle/>
          <a:p>
            <a:r>
              <a:rPr lang="en-US" sz="1700" dirty="0">
                <a:ea typeface="+mn-lt"/>
                <a:cs typeface="+mn-lt"/>
              </a:rPr>
              <a:t>As a result of the impact analysis , the distance is not sufficient for the approximation of the total energy requirement of AGVs. </a:t>
            </a:r>
          </a:p>
          <a:p>
            <a:r>
              <a:rPr lang="en-US" sz="1700" dirty="0">
                <a:ea typeface="+mn-lt"/>
                <a:cs typeface="+mn-lt"/>
              </a:rPr>
              <a:t>To approximate the total energy requirement of an AGV in operation more accurately, data of the actual material flow and layout are required.</a:t>
            </a:r>
            <a:endParaRPr lang="en-US" sz="1700" dirty="0"/>
          </a:p>
        </p:txBody>
      </p:sp>
      <p:sp>
        <p:nvSpPr>
          <p:cNvPr id="5" name="Title 1">
            <a:extLst>
              <a:ext uri="{FF2B5EF4-FFF2-40B4-BE49-F238E27FC236}">
                <a16:creationId xmlns:a16="http://schemas.microsoft.com/office/drawing/2014/main" id="{14DFCAE8-5D31-92EA-85F8-583D87A43992}"/>
              </a:ext>
            </a:extLst>
          </p:cNvPr>
          <p:cNvSpPr>
            <a:spLocks noGrp="1"/>
          </p:cNvSpPr>
          <p:nvPr>
            <p:ph type="title"/>
          </p:nvPr>
        </p:nvSpPr>
        <p:spPr>
          <a:xfrm>
            <a:off x="1522414" y="274638"/>
            <a:ext cx="9143998" cy="1020762"/>
          </a:xfrm>
        </p:spPr>
        <p:txBody>
          <a:bodyPr/>
          <a:lstStyle/>
          <a:p>
            <a:r>
              <a:rPr lang="en-US" dirty="0"/>
              <a:t>ERM for energy optimization</a:t>
            </a:r>
          </a:p>
        </p:txBody>
      </p:sp>
      <p:pic>
        <p:nvPicPr>
          <p:cNvPr id="6" name="Picture 5" descr="A black text on a white background&#10;&#10;AI-generated content may be incorrect.">
            <a:extLst>
              <a:ext uri="{FF2B5EF4-FFF2-40B4-BE49-F238E27FC236}">
                <a16:creationId xmlns:a16="http://schemas.microsoft.com/office/drawing/2014/main" id="{4EB05DFD-DDE8-EEEF-8EC4-355F6CADB86A}"/>
              </a:ext>
            </a:extLst>
          </p:cNvPr>
          <p:cNvPicPr>
            <a:picLocks noChangeAspect="1"/>
          </p:cNvPicPr>
          <p:nvPr/>
        </p:nvPicPr>
        <p:blipFill>
          <a:blip r:embed="rId2"/>
          <a:stretch>
            <a:fillRect/>
          </a:stretch>
        </p:blipFill>
        <p:spPr>
          <a:xfrm>
            <a:off x="1400407" y="4455141"/>
            <a:ext cx="4204489" cy="864925"/>
          </a:xfrm>
          <a:prstGeom prst="rect">
            <a:avLst/>
          </a:prstGeom>
        </p:spPr>
      </p:pic>
      <p:pic>
        <p:nvPicPr>
          <p:cNvPr id="8" name="Picture 7" descr="A black and white text&#10;&#10;AI-generated content may be incorrect.">
            <a:extLst>
              <a:ext uri="{FF2B5EF4-FFF2-40B4-BE49-F238E27FC236}">
                <a16:creationId xmlns:a16="http://schemas.microsoft.com/office/drawing/2014/main" id="{00D9BD2D-C55F-55C0-17AB-653FBA99E8F9}"/>
              </a:ext>
            </a:extLst>
          </p:cNvPr>
          <p:cNvPicPr>
            <a:picLocks noChangeAspect="1"/>
          </p:cNvPicPr>
          <p:nvPr/>
        </p:nvPicPr>
        <p:blipFill>
          <a:blip r:embed="rId3"/>
          <a:stretch>
            <a:fillRect/>
          </a:stretch>
        </p:blipFill>
        <p:spPr>
          <a:xfrm>
            <a:off x="7677551" y="4458694"/>
            <a:ext cx="2648309" cy="857819"/>
          </a:xfrm>
          <a:prstGeom prst="rect">
            <a:avLst/>
          </a:prstGeom>
        </p:spPr>
      </p:pic>
      <p:sp>
        <p:nvSpPr>
          <p:cNvPr id="10" name="TextBox 9">
            <a:extLst>
              <a:ext uri="{FF2B5EF4-FFF2-40B4-BE49-F238E27FC236}">
                <a16:creationId xmlns:a16="http://schemas.microsoft.com/office/drawing/2014/main" id="{2C9BE331-B4E3-C31F-E72E-AC8C6C464DFE}"/>
              </a:ext>
            </a:extLst>
          </p:cNvPr>
          <p:cNvSpPr txBox="1"/>
          <p:nvPr/>
        </p:nvSpPr>
        <p:spPr>
          <a:xfrm>
            <a:off x="6796961" y="2330356"/>
            <a:ext cx="4753331" cy="12695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1700" dirty="0"/>
              <a:t>The total scalar energy requirement E(t) is the sum of all individual states as a function with the evaluation period t, and the dispatching method used . Mathematically, this is formulated as follows:</a:t>
            </a:r>
          </a:p>
        </p:txBody>
      </p:sp>
      <p:sp>
        <p:nvSpPr>
          <p:cNvPr id="2" name="TextBox 1">
            <a:extLst>
              <a:ext uri="{FF2B5EF4-FFF2-40B4-BE49-F238E27FC236}">
                <a16:creationId xmlns:a16="http://schemas.microsoft.com/office/drawing/2014/main" id="{9245F3CA-44DD-E2F9-5F3B-84A1B0169549}"/>
              </a:ext>
            </a:extLst>
          </p:cNvPr>
          <p:cNvSpPr txBox="1"/>
          <p:nvPr/>
        </p:nvSpPr>
        <p:spPr>
          <a:xfrm>
            <a:off x="11002200" y="6324600"/>
            <a:ext cx="990600" cy="438566"/>
          </a:xfrm>
          <a:prstGeom prst="rect">
            <a:avLst/>
          </a:prstGeom>
          <a:noFill/>
        </p:spPr>
        <p:txBody>
          <a:bodyPr wrap="square" rtlCol="0">
            <a:spAutoFit/>
          </a:bodyPr>
          <a:lstStyle/>
          <a:p>
            <a:pPr>
              <a:lnSpc>
                <a:spcPct val="90000"/>
              </a:lnSpc>
            </a:pPr>
            <a:r>
              <a:rPr lang="en-US" sz="2400" dirty="0">
                <a:solidFill>
                  <a:schemeClr val="accent1"/>
                </a:solidFill>
              </a:rPr>
              <a:t> Paper </a:t>
            </a:r>
            <a:endParaRPr lang="en-IN" sz="2400" dirty="0">
              <a:solidFill>
                <a:schemeClr val="accent1"/>
              </a:solidFill>
            </a:endParaRPr>
          </a:p>
        </p:txBody>
      </p:sp>
    </p:spTree>
    <p:extLst>
      <p:ext uri="{BB962C8B-B14F-4D97-AF65-F5344CB8AC3E}">
        <p14:creationId xmlns:p14="http://schemas.microsoft.com/office/powerpoint/2010/main" val="384507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20B5-F71B-856B-8AE1-F83810E47D6D}"/>
              </a:ext>
            </a:extLst>
          </p:cNvPr>
          <p:cNvSpPr>
            <a:spLocks noGrp="1"/>
          </p:cNvSpPr>
          <p:nvPr>
            <p:ph type="title"/>
          </p:nvPr>
        </p:nvSpPr>
        <p:spPr/>
        <p:txBody>
          <a:bodyPr/>
          <a:lstStyle/>
          <a:p>
            <a:r>
              <a:rPr lang="en-US" dirty="0"/>
              <a:t>Study on AGVs battery charging strategy for improving utilization</a:t>
            </a:r>
            <a:endParaRPr lang="en-IN" dirty="0"/>
          </a:p>
        </p:txBody>
      </p:sp>
      <p:sp>
        <p:nvSpPr>
          <p:cNvPr id="3" name="Content Placeholder 2">
            <a:extLst>
              <a:ext uri="{FF2B5EF4-FFF2-40B4-BE49-F238E27FC236}">
                <a16:creationId xmlns:a16="http://schemas.microsoft.com/office/drawing/2014/main" id="{F7008E73-680D-9437-FDB2-E73AE0A00CB8}"/>
              </a:ext>
            </a:extLst>
          </p:cNvPr>
          <p:cNvSpPr>
            <a:spLocks noGrp="1"/>
          </p:cNvSpPr>
          <p:nvPr>
            <p:ph idx="1"/>
          </p:nvPr>
        </p:nvSpPr>
        <p:spPr>
          <a:xfrm>
            <a:off x="150812" y="3200400"/>
            <a:ext cx="5450664" cy="3124200"/>
          </a:xfrm>
        </p:spPr>
        <p:txBody>
          <a:bodyPr>
            <a:normAutofit/>
          </a:bodyPr>
          <a:lstStyle/>
          <a:p>
            <a:r>
              <a:rPr lang="en-US" sz="1700" dirty="0"/>
              <a:t> The paper on Warehouse Robot Localization and Communication System prototype to optimize battery management and workflow in warehouses. Autonomous mobile robots equipped with advanced localization and wireless communication technologies coordinate to prevent downtime. </a:t>
            </a:r>
          </a:p>
          <a:p>
            <a:r>
              <a:rPr lang="en-US" sz="1700" dirty="0"/>
              <a:t>When the battery level of the robot drops below a certain threshold, it communicates with the main computer to request assistance. Another robot then takes over its task, allowing the low-battery robot to reach a charging station</a:t>
            </a:r>
            <a:endParaRPr lang="en-IN" sz="1700" dirty="0"/>
          </a:p>
        </p:txBody>
      </p:sp>
      <p:pic>
        <p:nvPicPr>
          <p:cNvPr id="9" name="Picture 8">
            <a:extLst>
              <a:ext uri="{FF2B5EF4-FFF2-40B4-BE49-F238E27FC236}">
                <a16:creationId xmlns:a16="http://schemas.microsoft.com/office/drawing/2014/main" id="{293FEA47-9EE5-91F2-04D2-1924661A60BA}"/>
              </a:ext>
            </a:extLst>
          </p:cNvPr>
          <p:cNvPicPr>
            <a:picLocks noChangeAspect="1"/>
          </p:cNvPicPr>
          <p:nvPr/>
        </p:nvPicPr>
        <p:blipFill>
          <a:blip r:embed="rId2"/>
          <a:stretch>
            <a:fillRect/>
          </a:stretch>
        </p:blipFill>
        <p:spPr>
          <a:xfrm>
            <a:off x="329582" y="2057400"/>
            <a:ext cx="5778793" cy="746825"/>
          </a:xfrm>
          <a:prstGeom prst="rect">
            <a:avLst/>
          </a:prstGeom>
        </p:spPr>
      </p:pic>
      <p:pic>
        <p:nvPicPr>
          <p:cNvPr id="11" name="Picture 10">
            <a:extLst>
              <a:ext uri="{FF2B5EF4-FFF2-40B4-BE49-F238E27FC236}">
                <a16:creationId xmlns:a16="http://schemas.microsoft.com/office/drawing/2014/main" id="{1E30D255-8B87-2DED-0B9A-A7DC8CF2F5EE}"/>
              </a:ext>
            </a:extLst>
          </p:cNvPr>
          <p:cNvPicPr>
            <a:picLocks noChangeAspect="1"/>
          </p:cNvPicPr>
          <p:nvPr/>
        </p:nvPicPr>
        <p:blipFill>
          <a:blip r:embed="rId3"/>
          <a:stretch>
            <a:fillRect/>
          </a:stretch>
        </p:blipFill>
        <p:spPr>
          <a:xfrm>
            <a:off x="6587350" y="1668036"/>
            <a:ext cx="3436918" cy="4915326"/>
          </a:xfrm>
          <a:prstGeom prst="rect">
            <a:avLst/>
          </a:prstGeom>
        </p:spPr>
      </p:pic>
      <p:sp>
        <p:nvSpPr>
          <p:cNvPr id="12" name="TextBox 11">
            <a:extLst>
              <a:ext uri="{FF2B5EF4-FFF2-40B4-BE49-F238E27FC236}">
                <a16:creationId xmlns:a16="http://schemas.microsoft.com/office/drawing/2014/main" id="{7251E49B-9666-E608-D6BB-B8341DB04EF9}"/>
              </a:ext>
            </a:extLst>
          </p:cNvPr>
          <p:cNvSpPr txBox="1"/>
          <p:nvPr/>
        </p:nvSpPr>
        <p:spPr>
          <a:xfrm>
            <a:off x="11002200" y="6299382"/>
            <a:ext cx="990600" cy="438566"/>
          </a:xfrm>
          <a:prstGeom prst="rect">
            <a:avLst/>
          </a:prstGeom>
          <a:noFill/>
        </p:spPr>
        <p:txBody>
          <a:bodyPr wrap="square" rtlCol="0">
            <a:spAutoFit/>
          </a:bodyPr>
          <a:lstStyle/>
          <a:p>
            <a:pPr>
              <a:lnSpc>
                <a:spcPct val="90000"/>
              </a:lnSpc>
            </a:pPr>
            <a:r>
              <a:rPr lang="en-US" sz="2400" dirty="0">
                <a:solidFill>
                  <a:schemeClr val="accent1"/>
                </a:solidFill>
              </a:rPr>
              <a:t> Paper </a:t>
            </a:r>
            <a:endParaRPr lang="en-IN" sz="2400" dirty="0">
              <a:solidFill>
                <a:schemeClr val="accent1"/>
              </a:solidFill>
            </a:endParaRPr>
          </a:p>
        </p:txBody>
      </p:sp>
    </p:spTree>
    <p:extLst>
      <p:ext uri="{BB962C8B-B14F-4D97-AF65-F5344CB8AC3E}">
        <p14:creationId xmlns:p14="http://schemas.microsoft.com/office/powerpoint/2010/main" val="3921552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1ACE9-DDD1-E3EA-0981-8FECC3D476B3}"/>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6B5F8CC-1649-7797-B95F-CE7E56F35B93}"/>
              </a:ext>
            </a:extLst>
          </p:cNvPr>
          <p:cNvSpPr>
            <a:spLocks noGrp="1"/>
          </p:cNvSpPr>
          <p:nvPr>
            <p:ph type="title"/>
          </p:nvPr>
        </p:nvSpPr>
        <p:spPr>
          <a:xfrm>
            <a:off x="1522414" y="833335"/>
            <a:ext cx="9143998" cy="1020762"/>
          </a:xfrm>
        </p:spPr>
        <p:txBody>
          <a:bodyPr>
            <a:normAutofit/>
          </a:bodyPr>
          <a:lstStyle/>
          <a:p>
            <a:r>
              <a:rPr lang="en-US" dirty="0">
                <a:solidFill>
                  <a:srgbClr val="FFFFFF"/>
                </a:solidFill>
                <a:latin typeface="Consolas"/>
                <a:ea typeface="Calibri Light"/>
                <a:cs typeface="Times New Roman"/>
              </a:rPr>
              <a:t>Objectives:</a:t>
            </a:r>
            <a:endParaRPr lang="en-US" dirty="0"/>
          </a:p>
          <a:p>
            <a:endParaRPr lang="en-US" dirty="0">
              <a:solidFill>
                <a:srgbClr val="FFFFFF"/>
              </a:solidFill>
              <a:latin typeface="Consolas"/>
              <a:ea typeface="Calibri Light"/>
              <a:cs typeface="Calibri Light"/>
            </a:endParaRPr>
          </a:p>
        </p:txBody>
      </p:sp>
      <p:sp>
        <p:nvSpPr>
          <p:cNvPr id="14" name="Content Placeholder 13">
            <a:extLst>
              <a:ext uri="{FF2B5EF4-FFF2-40B4-BE49-F238E27FC236}">
                <a16:creationId xmlns:a16="http://schemas.microsoft.com/office/drawing/2014/main" id="{2AD6533E-CA44-B06E-B7B4-CF14911C87DC}"/>
              </a:ext>
            </a:extLst>
          </p:cNvPr>
          <p:cNvSpPr>
            <a:spLocks noGrp="1"/>
          </p:cNvSpPr>
          <p:nvPr>
            <p:ph idx="1"/>
          </p:nvPr>
        </p:nvSpPr>
        <p:spPr>
          <a:xfrm>
            <a:off x="732044" y="1738223"/>
            <a:ext cx="10273234" cy="4281577"/>
          </a:xfrm>
        </p:spPr>
        <p:txBody>
          <a:bodyPr vert="horz" lIns="91440" tIns="45720" rIns="91440" bIns="45720" rtlCol="0" anchor="t">
            <a:normAutofit/>
          </a:bodyPr>
          <a:lstStyle/>
          <a:p>
            <a:r>
              <a:rPr lang="en-US" dirty="0">
                <a:solidFill>
                  <a:srgbClr val="FFFFFF"/>
                </a:solidFill>
                <a:latin typeface="Corbel"/>
                <a:ea typeface="Calibri"/>
                <a:cs typeface="Calibri"/>
              </a:rPr>
              <a:t>Minimize Distance Traveled (D) :  finds the shortest path from the start point to the goal while navigating through the environment. This reduces travel time and increases efficiency.</a:t>
            </a:r>
            <a:endParaRPr lang="en-US" dirty="0">
              <a:solidFill>
                <a:srgbClr val="FFFFFF"/>
              </a:solidFill>
              <a:latin typeface="Corbel"/>
            </a:endParaRPr>
          </a:p>
          <a:p>
            <a:r>
              <a:rPr lang="en-US" dirty="0">
                <a:solidFill>
                  <a:srgbClr val="FFFFFF"/>
                </a:solidFill>
                <a:latin typeface="Corbel"/>
                <a:ea typeface="Calibri"/>
                <a:cs typeface="Calibri"/>
              </a:rPr>
              <a:t>Minimize Energy Consumption (E): Energy efficiency is crucial for operational cost savings</a:t>
            </a:r>
            <a:endParaRPr lang="en-US" dirty="0"/>
          </a:p>
          <a:p>
            <a:pPr marL="0" indent="0">
              <a:buNone/>
            </a:pPr>
            <a:endParaRPr lang="en-US" dirty="0">
              <a:ea typeface="Calibri"/>
              <a:cs typeface="Calibri"/>
            </a:endParaRPr>
          </a:p>
          <a:p>
            <a:endParaRPr lang="en-US" dirty="0"/>
          </a:p>
        </p:txBody>
      </p:sp>
      <p:sp>
        <p:nvSpPr>
          <p:cNvPr id="5" name="TextBox 4">
            <a:extLst>
              <a:ext uri="{FF2B5EF4-FFF2-40B4-BE49-F238E27FC236}">
                <a16:creationId xmlns:a16="http://schemas.microsoft.com/office/drawing/2014/main" id="{D71DCC10-F817-0CDE-8A1D-D1EFFB6B714E}"/>
              </a:ext>
            </a:extLst>
          </p:cNvPr>
          <p:cNvSpPr txBox="1"/>
          <p:nvPr/>
        </p:nvSpPr>
        <p:spPr>
          <a:xfrm>
            <a:off x="4113212" y="903731"/>
            <a:ext cx="4144794" cy="480131"/>
          </a:xfrm>
          <a:prstGeom prst="rect">
            <a:avLst/>
          </a:prstGeom>
          <a:noFill/>
        </p:spPr>
        <p:txBody>
          <a:bodyPr wrap="square" rtlCol="0">
            <a:spAutoFit/>
          </a:bodyPr>
          <a:lstStyle/>
          <a:p>
            <a:pPr>
              <a:lnSpc>
                <a:spcPct val="90000"/>
              </a:lnSpc>
            </a:pPr>
            <a:r>
              <a:rPr lang="en-US" sz="2800" dirty="0">
                <a:solidFill>
                  <a:schemeClr val="accent1"/>
                </a:solidFill>
              </a:rPr>
              <a:t>(Multi-Objective Problem)</a:t>
            </a:r>
            <a:endParaRPr lang="en-IN" sz="2800" dirty="0">
              <a:solidFill>
                <a:schemeClr val="accent1"/>
              </a:solidFill>
            </a:endParaRPr>
          </a:p>
        </p:txBody>
      </p:sp>
      <p:pic>
        <p:nvPicPr>
          <p:cNvPr id="7" name="Picture 6" descr="A math equations on a white background&#10;&#10;AI-generated content may be incorrect.">
            <a:extLst>
              <a:ext uri="{FF2B5EF4-FFF2-40B4-BE49-F238E27FC236}">
                <a16:creationId xmlns:a16="http://schemas.microsoft.com/office/drawing/2014/main" id="{12D312BA-6846-7F4A-0CCB-0CA2F811D3E7}"/>
              </a:ext>
            </a:extLst>
          </p:cNvPr>
          <p:cNvPicPr>
            <a:picLocks noChangeAspect="1"/>
          </p:cNvPicPr>
          <p:nvPr/>
        </p:nvPicPr>
        <p:blipFill>
          <a:blip r:embed="rId2"/>
          <a:stretch>
            <a:fillRect/>
          </a:stretch>
        </p:blipFill>
        <p:spPr>
          <a:xfrm>
            <a:off x="908769" y="4381956"/>
            <a:ext cx="5782282" cy="1243895"/>
          </a:xfrm>
          <a:prstGeom prst="rect">
            <a:avLst/>
          </a:prstGeom>
        </p:spPr>
      </p:pic>
      <p:pic>
        <p:nvPicPr>
          <p:cNvPr id="9" name="Picture 8">
            <a:extLst>
              <a:ext uri="{FF2B5EF4-FFF2-40B4-BE49-F238E27FC236}">
                <a16:creationId xmlns:a16="http://schemas.microsoft.com/office/drawing/2014/main" id="{1F3C331C-7664-0423-6BD3-4580CC35BF4E}"/>
              </a:ext>
            </a:extLst>
          </p:cNvPr>
          <p:cNvPicPr>
            <a:picLocks noChangeAspect="1"/>
          </p:cNvPicPr>
          <p:nvPr/>
        </p:nvPicPr>
        <p:blipFill>
          <a:blip r:embed="rId3"/>
          <a:stretch>
            <a:fillRect/>
          </a:stretch>
        </p:blipFill>
        <p:spPr>
          <a:xfrm>
            <a:off x="7745518" y="4038600"/>
            <a:ext cx="4138019" cy="419136"/>
          </a:xfrm>
          <a:prstGeom prst="rect">
            <a:avLst/>
          </a:prstGeom>
        </p:spPr>
      </p:pic>
      <p:pic>
        <p:nvPicPr>
          <p:cNvPr id="11" name="Picture 10">
            <a:extLst>
              <a:ext uri="{FF2B5EF4-FFF2-40B4-BE49-F238E27FC236}">
                <a16:creationId xmlns:a16="http://schemas.microsoft.com/office/drawing/2014/main" id="{303F3E06-7726-4E81-E45F-7C6D3B0306F3}"/>
              </a:ext>
            </a:extLst>
          </p:cNvPr>
          <p:cNvPicPr>
            <a:picLocks noChangeAspect="1"/>
          </p:cNvPicPr>
          <p:nvPr/>
        </p:nvPicPr>
        <p:blipFill>
          <a:blip r:embed="rId4"/>
          <a:stretch>
            <a:fillRect/>
          </a:stretch>
        </p:blipFill>
        <p:spPr>
          <a:xfrm>
            <a:off x="7745519" y="4457736"/>
            <a:ext cx="4138019" cy="708721"/>
          </a:xfrm>
          <a:prstGeom prst="rect">
            <a:avLst/>
          </a:prstGeom>
        </p:spPr>
      </p:pic>
      <p:pic>
        <p:nvPicPr>
          <p:cNvPr id="15" name="Picture 14">
            <a:extLst>
              <a:ext uri="{FF2B5EF4-FFF2-40B4-BE49-F238E27FC236}">
                <a16:creationId xmlns:a16="http://schemas.microsoft.com/office/drawing/2014/main" id="{D83B3C0D-AD90-B279-9E72-41D4F6A29066}"/>
              </a:ext>
            </a:extLst>
          </p:cNvPr>
          <p:cNvPicPr>
            <a:picLocks noChangeAspect="1"/>
          </p:cNvPicPr>
          <p:nvPr/>
        </p:nvPicPr>
        <p:blipFill>
          <a:blip r:embed="rId5"/>
          <a:stretch>
            <a:fillRect/>
          </a:stretch>
        </p:blipFill>
        <p:spPr>
          <a:xfrm>
            <a:off x="7745517" y="5166457"/>
            <a:ext cx="4138019" cy="723963"/>
          </a:xfrm>
          <a:prstGeom prst="rect">
            <a:avLst/>
          </a:prstGeom>
        </p:spPr>
      </p:pic>
    </p:spTree>
    <p:extLst>
      <p:ext uri="{BB962C8B-B14F-4D97-AF65-F5344CB8AC3E}">
        <p14:creationId xmlns:p14="http://schemas.microsoft.com/office/powerpoint/2010/main" val="3337725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th equations on a white background&#10;&#10;AI-generated content may be incorrect.">
            <a:extLst>
              <a:ext uri="{FF2B5EF4-FFF2-40B4-BE49-F238E27FC236}">
                <a16:creationId xmlns:a16="http://schemas.microsoft.com/office/drawing/2014/main" id="{74BB9710-719E-9838-C797-71BAF797B1B6}"/>
              </a:ext>
            </a:extLst>
          </p:cNvPr>
          <p:cNvPicPr>
            <a:picLocks noChangeAspect="1"/>
          </p:cNvPicPr>
          <p:nvPr/>
        </p:nvPicPr>
        <p:blipFill>
          <a:blip r:embed="rId2"/>
          <a:stretch>
            <a:fillRect/>
          </a:stretch>
        </p:blipFill>
        <p:spPr>
          <a:xfrm>
            <a:off x="3859638" y="5238633"/>
            <a:ext cx="5782282" cy="1243895"/>
          </a:xfrm>
          <a:prstGeom prst="rect">
            <a:avLst/>
          </a:prstGeom>
        </p:spPr>
      </p:pic>
      <p:sp>
        <p:nvSpPr>
          <p:cNvPr id="3" name="TextBox 2">
            <a:extLst>
              <a:ext uri="{FF2B5EF4-FFF2-40B4-BE49-F238E27FC236}">
                <a16:creationId xmlns:a16="http://schemas.microsoft.com/office/drawing/2014/main" id="{FC95172E-5525-59F3-497C-F3CE76987FDE}"/>
              </a:ext>
            </a:extLst>
          </p:cNvPr>
          <p:cNvSpPr txBox="1"/>
          <p:nvPr/>
        </p:nvSpPr>
        <p:spPr>
          <a:xfrm>
            <a:off x="149358" y="5638799"/>
            <a:ext cx="2667000" cy="424732"/>
          </a:xfrm>
          <a:prstGeom prst="rect">
            <a:avLst/>
          </a:prstGeom>
          <a:noFill/>
        </p:spPr>
        <p:txBody>
          <a:bodyPr wrap="square" rtlCol="0">
            <a:spAutoFit/>
          </a:bodyPr>
          <a:lstStyle/>
          <a:p>
            <a:pPr>
              <a:lnSpc>
                <a:spcPct val="90000"/>
              </a:lnSpc>
            </a:pPr>
            <a:r>
              <a:rPr lang="en-IN" sz="2400" dirty="0"/>
              <a:t>Objective function</a:t>
            </a:r>
          </a:p>
        </p:txBody>
      </p:sp>
      <p:pic>
        <p:nvPicPr>
          <p:cNvPr id="24" name="Picture 23">
            <a:extLst>
              <a:ext uri="{FF2B5EF4-FFF2-40B4-BE49-F238E27FC236}">
                <a16:creationId xmlns:a16="http://schemas.microsoft.com/office/drawing/2014/main" id="{EA0DCA08-2637-67B6-5777-0A73DED4C119}"/>
              </a:ext>
            </a:extLst>
          </p:cNvPr>
          <p:cNvPicPr>
            <a:picLocks noChangeAspect="1"/>
          </p:cNvPicPr>
          <p:nvPr/>
        </p:nvPicPr>
        <p:blipFill>
          <a:blip r:embed="rId3"/>
          <a:stretch>
            <a:fillRect/>
          </a:stretch>
        </p:blipFill>
        <p:spPr>
          <a:xfrm>
            <a:off x="3791663" y="193089"/>
            <a:ext cx="6248400" cy="1721498"/>
          </a:xfrm>
          <a:prstGeom prst="rect">
            <a:avLst/>
          </a:prstGeom>
        </p:spPr>
      </p:pic>
      <p:sp>
        <p:nvSpPr>
          <p:cNvPr id="25" name="TextBox 24">
            <a:extLst>
              <a:ext uri="{FF2B5EF4-FFF2-40B4-BE49-F238E27FC236}">
                <a16:creationId xmlns:a16="http://schemas.microsoft.com/office/drawing/2014/main" id="{D1214118-44D9-BE1E-42D0-D2A423A3ED64}"/>
              </a:ext>
            </a:extLst>
          </p:cNvPr>
          <p:cNvSpPr txBox="1"/>
          <p:nvPr/>
        </p:nvSpPr>
        <p:spPr>
          <a:xfrm>
            <a:off x="141550" y="193089"/>
            <a:ext cx="2667000" cy="424732"/>
          </a:xfrm>
          <a:prstGeom prst="rect">
            <a:avLst/>
          </a:prstGeom>
          <a:noFill/>
        </p:spPr>
        <p:txBody>
          <a:bodyPr wrap="square" rtlCol="0">
            <a:spAutoFit/>
          </a:bodyPr>
          <a:lstStyle/>
          <a:p>
            <a:pPr>
              <a:lnSpc>
                <a:spcPct val="90000"/>
              </a:lnSpc>
            </a:pPr>
            <a:r>
              <a:rPr lang="en-IN" sz="2400" dirty="0"/>
              <a:t>Design variables: </a:t>
            </a:r>
          </a:p>
        </p:txBody>
      </p:sp>
      <p:pic>
        <p:nvPicPr>
          <p:cNvPr id="27" name="Picture 26">
            <a:extLst>
              <a:ext uri="{FF2B5EF4-FFF2-40B4-BE49-F238E27FC236}">
                <a16:creationId xmlns:a16="http://schemas.microsoft.com/office/drawing/2014/main" id="{6862C7FD-3F3B-D2E8-6B5E-AC7E2D6C58F5}"/>
              </a:ext>
            </a:extLst>
          </p:cNvPr>
          <p:cNvPicPr>
            <a:picLocks noChangeAspect="1"/>
          </p:cNvPicPr>
          <p:nvPr/>
        </p:nvPicPr>
        <p:blipFill>
          <a:blip r:embed="rId4"/>
          <a:stretch>
            <a:fillRect/>
          </a:stretch>
        </p:blipFill>
        <p:spPr>
          <a:xfrm>
            <a:off x="3686885" y="2435870"/>
            <a:ext cx="1562235" cy="457240"/>
          </a:xfrm>
          <a:prstGeom prst="rect">
            <a:avLst/>
          </a:prstGeom>
        </p:spPr>
      </p:pic>
      <p:pic>
        <p:nvPicPr>
          <p:cNvPr id="29" name="Picture 28">
            <a:extLst>
              <a:ext uri="{FF2B5EF4-FFF2-40B4-BE49-F238E27FC236}">
                <a16:creationId xmlns:a16="http://schemas.microsoft.com/office/drawing/2014/main" id="{C8FC55C8-4A72-210D-EA8C-3B058C09807A}"/>
              </a:ext>
            </a:extLst>
          </p:cNvPr>
          <p:cNvPicPr>
            <a:picLocks noChangeAspect="1"/>
          </p:cNvPicPr>
          <p:nvPr/>
        </p:nvPicPr>
        <p:blipFill>
          <a:blip r:embed="rId5"/>
          <a:stretch>
            <a:fillRect/>
          </a:stretch>
        </p:blipFill>
        <p:spPr>
          <a:xfrm>
            <a:off x="5717987" y="2492163"/>
            <a:ext cx="1486029" cy="396274"/>
          </a:xfrm>
          <a:prstGeom prst="rect">
            <a:avLst/>
          </a:prstGeom>
        </p:spPr>
      </p:pic>
      <p:pic>
        <p:nvPicPr>
          <p:cNvPr id="35" name="Picture 34">
            <a:extLst>
              <a:ext uri="{FF2B5EF4-FFF2-40B4-BE49-F238E27FC236}">
                <a16:creationId xmlns:a16="http://schemas.microsoft.com/office/drawing/2014/main" id="{F2F25810-6299-8B19-F1A2-70AD72F9895E}"/>
              </a:ext>
            </a:extLst>
          </p:cNvPr>
          <p:cNvPicPr>
            <a:picLocks noChangeAspect="1"/>
          </p:cNvPicPr>
          <p:nvPr/>
        </p:nvPicPr>
        <p:blipFill>
          <a:blip r:embed="rId6"/>
          <a:stretch>
            <a:fillRect/>
          </a:stretch>
        </p:blipFill>
        <p:spPr>
          <a:xfrm>
            <a:off x="7515828" y="2386753"/>
            <a:ext cx="2476715" cy="685859"/>
          </a:xfrm>
          <a:prstGeom prst="rect">
            <a:avLst/>
          </a:prstGeom>
        </p:spPr>
      </p:pic>
      <p:pic>
        <p:nvPicPr>
          <p:cNvPr id="37" name="Picture 36">
            <a:extLst>
              <a:ext uri="{FF2B5EF4-FFF2-40B4-BE49-F238E27FC236}">
                <a16:creationId xmlns:a16="http://schemas.microsoft.com/office/drawing/2014/main" id="{3D8EF5DF-4510-10B6-76AD-230817A8D73F}"/>
              </a:ext>
            </a:extLst>
          </p:cNvPr>
          <p:cNvPicPr>
            <a:picLocks noChangeAspect="1"/>
          </p:cNvPicPr>
          <p:nvPr/>
        </p:nvPicPr>
        <p:blipFill>
          <a:blip r:embed="rId7"/>
          <a:stretch>
            <a:fillRect/>
          </a:stretch>
        </p:blipFill>
        <p:spPr>
          <a:xfrm>
            <a:off x="10285412" y="2492163"/>
            <a:ext cx="1333616" cy="457240"/>
          </a:xfrm>
          <a:prstGeom prst="rect">
            <a:avLst/>
          </a:prstGeom>
        </p:spPr>
      </p:pic>
      <p:sp>
        <p:nvSpPr>
          <p:cNvPr id="38" name="TextBox 37">
            <a:extLst>
              <a:ext uri="{FF2B5EF4-FFF2-40B4-BE49-F238E27FC236}">
                <a16:creationId xmlns:a16="http://schemas.microsoft.com/office/drawing/2014/main" id="{249EB900-8C90-52C2-24C1-3CE1DEAE0CD0}"/>
              </a:ext>
            </a:extLst>
          </p:cNvPr>
          <p:cNvSpPr txBox="1"/>
          <p:nvPr/>
        </p:nvSpPr>
        <p:spPr>
          <a:xfrm>
            <a:off x="115844" y="2203282"/>
            <a:ext cx="3269453" cy="424732"/>
          </a:xfrm>
          <a:prstGeom prst="rect">
            <a:avLst/>
          </a:prstGeom>
          <a:noFill/>
        </p:spPr>
        <p:txBody>
          <a:bodyPr wrap="square" rtlCol="0">
            <a:spAutoFit/>
          </a:bodyPr>
          <a:lstStyle/>
          <a:p>
            <a:pPr>
              <a:lnSpc>
                <a:spcPct val="90000"/>
              </a:lnSpc>
            </a:pPr>
            <a:r>
              <a:rPr lang="en-IN" sz="2400" dirty="0"/>
              <a:t>Inequality constraint:</a:t>
            </a:r>
          </a:p>
        </p:txBody>
      </p:sp>
      <p:sp>
        <p:nvSpPr>
          <p:cNvPr id="39" name="TextBox 38">
            <a:extLst>
              <a:ext uri="{FF2B5EF4-FFF2-40B4-BE49-F238E27FC236}">
                <a16:creationId xmlns:a16="http://schemas.microsoft.com/office/drawing/2014/main" id="{9F1748A1-A9BF-FEE2-0604-CF636CEF2202}"/>
              </a:ext>
            </a:extLst>
          </p:cNvPr>
          <p:cNvSpPr txBox="1"/>
          <p:nvPr/>
        </p:nvSpPr>
        <p:spPr>
          <a:xfrm>
            <a:off x="31069" y="3957235"/>
            <a:ext cx="3269453" cy="424732"/>
          </a:xfrm>
          <a:prstGeom prst="rect">
            <a:avLst/>
          </a:prstGeom>
          <a:noFill/>
        </p:spPr>
        <p:txBody>
          <a:bodyPr wrap="square" rtlCol="0">
            <a:spAutoFit/>
          </a:bodyPr>
          <a:lstStyle/>
          <a:p>
            <a:pPr>
              <a:lnSpc>
                <a:spcPct val="90000"/>
              </a:lnSpc>
            </a:pPr>
            <a:r>
              <a:rPr lang="en-IN" sz="2400" dirty="0"/>
              <a:t>Equality constraint:</a:t>
            </a:r>
          </a:p>
        </p:txBody>
      </p:sp>
      <p:pic>
        <p:nvPicPr>
          <p:cNvPr id="41" name="Picture 40">
            <a:extLst>
              <a:ext uri="{FF2B5EF4-FFF2-40B4-BE49-F238E27FC236}">
                <a16:creationId xmlns:a16="http://schemas.microsoft.com/office/drawing/2014/main" id="{3DCECCE6-AC67-C4BB-5A03-6B0D701E9227}"/>
              </a:ext>
            </a:extLst>
          </p:cNvPr>
          <p:cNvPicPr>
            <a:picLocks noChangeAspect="1"/>
          </p:cNvPicPr>
          <p:nvPr/>
        </p:nvPicPr>
        <p:blipFill>
          <a:blip r:embed="rId8"/>
          <a:stretch>
            <a:fillRect/>
          </a:stretch>
        </p:blipFill>
        <p:spPr>
          <a:xfrm>
            <a:off x="3856286" y="3957083"/>
            <a:ext cx="2842506" cy="579170"/>
          </a:xfrm>
          <a:prstGeom prst="rect">
            <a:avLst/>
          </a:prstGeom>
        </p:spPr>
      </p:pic>
      <p:pic>
        <p:nvPicPr>
          <p:cNvPr id="43" name="Picture 42">
            <a:extLst>
              <a:ext uri="{FF2B5EF4-FFF2-40B4-BE49-F238E27FC236}">
                <a16:creationId xmlns:a16="http://schemas.microsoft.com/office/drawing/2014/main" id="{63F65794-A4D7-61E8-5BE1-0FEA73424E18}"/>
              </a:ext>
            </a:extLst>
          </p:cNvPr>
          <p:cNvPicPr>
            <a:picLocks noChangeAspect="1"/>
          </p:cNvPicPr>
          <p:nvPr/>
        </p:nvPicPr>
        <p:blipFill>
          <a:blip r:embed="rId9"/>
          <a:stretch>
            <a:fillRect/>
          </a:stretch>
        </p:blipFill>
        <p:spPr>
          <a:xfrm>
            <a:off x="3856286" y="4491809"/>
            <a:ext cx="4694327" cy="518205"/>
          </a:xfrm>
          <a:prstGeom prst="rect">
            <a:avLst/>
          </a:prstGeom>
        </p:spPr>
      </p:pic>
      <p:pic>
        <p:nvPicPr>
          <p:cNvPr id="5" name="Picture 4">
            <a:extLst>
              <a:ext uri="{FF2B5EF4-FFF2-40B4-BE49-F238E27FC236}">
                <a16:creationId xmlns:a16="http://schemas.microsoft.com/office/drawing/2014/main" id="{7B59BD39-8691-9139-A184-E2C7600AB932}"/>
              </a:ext>
            </a:extLst>
          </p:cNvPr>
          <p:cNvPicPr>
            <a:picLocks noChangeAspect="1"/>
          </p:cNvPicPr>
          <p:nvPr/>
        </p:nvPicPr>
        <p:blipFill>
          <a:blip r:embed="rId10"/>
          <a:stretch>
            <a:fillRect/>
          </a:stretch>
        </p:blipFill>
        <p:spPr>
          <a:xfrm>
            <a:off x="3801387" y="1889638"/>
            <a:ext cx="6215952" cy="312447"/>
          </a:xfrm>
          <a:prstGeom prst="rect">
            <a:avLst/>
          </a:prstGeom>
        </p:spPr>
      </p:pic>
      <p:pic>
        <p:nvPicPr>
          <p:cNvPr id="7" name="Picture 6">
            <a:extLst>
              <a:ext uri="{FF2B5EF4-FFF2-40B4-BE49-F238E27FC236}">
                <a16:creationId xmlns:a16="http://schemas.microsoft.com/office/drawing/2014/main" id="{A77DA29C-FD71-5650-95EB-ACBAAA1BFC48}"/>
              </a:ext>
            </a:extLst>
          </p:cNvPr>
          <p:cNvPicPr>
            <a:picLocks noChangeAspect="1"/>
          </p:cNvPicPr>
          <p:nvPr/>
        </p:nvPicPr>
        <p:blipFill>
          <a:blip r:embed="rId11"/>
          <a:stretch>
            <a:fillRect/>
          </a:stretch>
        </p:blipFill>
        <p:spPr>
          <a:xfrm>
            <a:off x="7649176" y="2934545"/>
            <a:ext cx="3292125" cy="701101"/>
          </a:xfrm>
          <a:prstGeom prst="rect">
            <a:avLst/>
          </a:prstGeom>
        </p:spPr>
      </p:pic>
    </p:spTree>
    <p:extLst>
      <p:ext uri="{BB962C8B-B14F-4D97-AF65-F5344CB8AC3E}">
        <p14:creationId xmlns:p14="http://schemas.microsoft.com/office/powerpoint/2010/main" val="148394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6342-C093-70DA-97DF-62B189BAAF55}"/>
              </a:ext>
            </a:extLst>
          </p:cNvPr>
          <p:cNvSpPr>
            <a:spLocks noGrp="1"/>
          </p:cNvSpPr>
          <p:nvPr>
            <p:ph type="title"/>
          </p:nvPr>
        </p:nvSpPr>
        <p:spPr/>
        <p:txBody>
          <a:bodyPr/>
          <a:lstStyle/>
          <a:p>
            <a:r>
              <a:rPr lang="en-US" dirty="0"/>
              <a:t>Approach</a:t>
            </a:r>
            <a:endParaRPr lang="en-IN" dirty="0"/>
          </a:p>
        </p:txBody>
      </p:sp>
    </p:spTree>
    <p:extLst>
      <p:ext uri="{BB962C8B-B14F-4D97-AF65-F5344CB8AC3E}">
        <p14:creationId xmlns:p14="http://schemas.microsoft.com/office/powerpoint/2010/main" val="368471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A684C-96E7-9284-26CE-3A187B9F9B9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25E6963-1A48-B5D3-9F85-17319E096CC1}"/>
              </a:ext>
            </a:extLst>
          </p:cNvPr>
          <p:cNvSpPr>
            <a:spLocks noGrp="1"/>
          </p:cNvSpPr>
          <p:nvPr>
            <p:ph type="title"/>
          </p:nvPr>
        </p:nvSpPr>
        <p:spPr>
          <a:xfrm>
            <a:off x="1522414" y="833335"/>
            <a:ext cx="9143998" cy="1020762"/>
          </a:xfrm>
        </p:spPr>
        <p:txBody>
          <a:bodyPr>
            <a:normAutofit/>
          </a:bodyPr>
          <a:lstStyle/>
          <a:p>
            <a:r>
              <a:rPr lang="en-US" dirty="0">
                <a:solidFill>
                  <a:srgbClr val="FFFFFF"/>
                </a:solidFill>
                <a:latin typeface="Consolas"/>
                <a:ea typeface="Calibri Light"/>
                <a:cs typeface="Times New Roman"/>
              </a:rPr>
              <a:t>Creation of Grid</a:t>
            </a:r>
          </a:p>
          <a:p>
            <a:endParaRPr lang="en-US" dirty="0">
              <a:solidFill>
                <a:srgbClr val="FFFFFF"/>
              </a:solidFill>
              <a:latin typeface="Consolas"/>
              <a:ea typeface="Calibri Light"/>
              <a:cs typeface="Calibri Light"/>
            </a:endParaRPr>
          </a:p>
        </p:txBody>
      </p:sp>
      <p:sp>
        <p:nvSpPr>
          <p:cNvPr id="14" name="Content Placeholder 13">
            <a:extLst>
              <a:ext uri="{FF2B5EF4-FFF2-40B4-BE49-F238E27FC236}">
                <a16:creationId xmlns:a16="http://schemas.microsoft.com/office/drawing/2014/main" id="{98E9C41D-62FD-A1C8-9A6C-F6F7158AF0F4}"/>
              </a:ext>
            </a:extLst>
          </p:cNvPr>
          <p:cNvSpPr>
            <a:spLocks noGrp="1"/>
          </p:cNvSpPr>
          <p:nvPr>
            <p:ph idx="1"/>
          </p:nvPr>
        </p:nvSpPr>
        <p:spPr>
          <a:xfrm>
            <a:off x="621172" y="2327683"/>
            <a:ext cx="11180764" cy="2703260"/>
          </a:xfrm>
        </p:spPr>
        <p:txBody>
          <a:bodyPr vert="horz" lIns="91440" tIns="45720" rIns="91440" bIns="45720" rtlCol="0" anchor="t">
            <a:normAutofit fontScale="92500" lnSpcReduction="10000"/>
          </a:bodyPr>
          <a:lstStyle/>
          <a:p>
            <a:pPr marL="0" indent="0">
              <a:buNone/>
            </a:pPr>
            <a:r>
              <a:rPr lang="en-US" dirty="0"/>
              <a:t>Grid Environment Variables</a:t>
            </a:r>
          </a:p>
          <a:p>
            <a:r>
              <a:rPr lang="en-US" dirty="0" err="1"/>
              <a:t>grid_size</a:t>
            </a:r>
            <a:r>
              <a:rPr lang="en-US" dirty="0"/>
              <a:t>: Tuple (width, height) representing the dimensions of the grid </a:t>
            </a:r>
          </a:p>
          <a:p>
            <a:r>
              <a:rPr lang="en-US" dirty="0"/>
              <a:t>grid: 2D array representing the grid, where:   0 indicates a walkable cell,  1 indicates an obstacle.</a:t>
            </a:r>
          </a:p>
          <a:p>
            <a:r>
              <a:rPr lang="en-US" dirty="0" err="1"/>
              <a:t>start_position</a:t>
            </a:r>
            <a:r>
              <a:rPr lang="en-US" dirty="0"/>
              <a:t>: Tuple (x, y) representing the starting position of the agent</a:t>
            </a:r>
          </a:p>
          <a:p>
            <a:r>
              <a:rPr lang="en-US" dirty="0" err="1"/>
              <a:t>goal_position</a:t>
            </a:r>
            <a:r>
              <a:rPr lang="en-US" dirty="0"/>
              <a:t>: Tuple (x, y) representing the goal position of the agent </a:t>
            </a:r>
          </a:p>
          <a:p>
            <a:endParaRPr lang="en-US" dirty="0"/>
          </a:p>
        </p:txBody>
      </p:sp>
      <p:sp>
        <p:nvSpPr>
          <p:cNvPr id="4" name="TextBox 3">
            <a:extLst>
              <a:ext uri="{FF2B5EF4-FFF2-40B4-BE49-F238E27FC236}">
                <a16:creationId xmlns:a16="http://schemas.microsoft.com/office/drawing/2014/main" id="{0AA17D53-97CB-B41E-EBA6-92075F194544}"/>
              </a:ext>
            </a:extLst>
          </p:cNvPr>
          <p:cNvSpPr txBox="1"/>
          <p:nvPr/>
        </p:nvSpPr>
        <p:spPr>
          <a:xfrm>
            <a:off x="9675812" y="6248400"/>
            <a:ext cx="2286000" cy="424732"/>
          </a:xfrm>
          <a:prstGeom prst="rect">
            <a:avLst/>
          </a:prstGeom>
          <a:noFill/>
        </p:spPr>
        <p:txBody>
          <a:bodyPr wrap="square" rtlCol="0">
            <a:spAutoFit/>
          </a:bodyPr>
          <a:lstStyle/>
          <a:p>
            <a:pPr>
              <a:lnSpc>
                <a:spcPct val="90000"/>
              </a:lnSpc>
            </a:pPr>
            <a:r>
              <a:rPr lang="en-US" sz="2400" dirty="0">
                <a:solidFill>
                  <a:schemeClr val="accent1"/>
                </a:solidFill>
              </a:rPr>
              <a:t>Design Variables</a:t>
            </a:r>
            <a:endParaRPr lang="en-IN" sz="2400" dirty="0">
              <a:solidFill>
                <a:schemeClr val="accent1"/>
              </a:solidFill>
            </a:endParaRPr>
          </a:p>
        </p:txBody>
      </p:sp>
    </p:spTree>
    <p:extLst>
      <p:ext uri="{BB962C8B-B14F-4D97-AF65-F5344CB8AC3E}">
        <p14:creationId xmlns:p14="http://schemas.microsoft.com/office/powerpoint/2010/main" val="395665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maze on a grid&#10;&#10;AI-generated content may be incorrect.">
            <a:extLst>
              <a:ext uri="{FF2B5EF4-FFF2-40B4-BE49-F238E27FC236}">
                <a16:creationId xmlns:a16="http://schemas.microsoft.com/office/drawing/2014/main" id="{26973D85-6BDC-288D-8F97-A9D2784A770B}"/>
              </a:ext>
            </a:extLst>
          </p:cNvPr>
          <p:cNvPicPr>
            <a:picLocks noGrp="1" noChangeAspect="1"/>
          </p:cNvPicPr>
          <p:nvPr>
            <p:ph idx="4294967295"/>
          </p:nvPr>
        </p:nvPicPr>
        <p:blipFill>
          <a:blip r:embed="rId2"/>
          <a:stretch>
            <a:fillRect/>
          </a:stretch>
        </p:blipFill>
        <p:spPr>
          <a:xfrm>
            <a:off x="533912" y="304800"/>
            <a:ext cx="5143500" cy="3987800"/>
          </a:xfrm>
        </p:spPr>
      </p:pic>
      <p:pic>
        <p:nvPicPr>
          <p:cNvPr id="5" name="Picture 4" descr="A crossword puzzle with numbers&#10;&#10;AI-generated content may be incorrect.">
            <a:extLst>
              <a:ext uri="{FF2B5EF4-FFF2-40B4-BE49-F238E27FC236}">
                <a16:creationId xmlns:a16="http://schemas.microsoft.com/office/drawing/2014/main" id="{B409DA46-0A56-7CE0-276C-1AACDB8EBB42}"/>
              </a:ext>
            </a:extLst>
          </p:cNvPr>
          <p:cNvPicPr>
            <a:picLocks noChangeAspect="1"/>
          </p:cNvPicPr>
          <p:nvPr/>
        </p:nvPicPr>
        <p:blipFill>
          <a:blip r:embed="rId3"/>
          <a:stretch>
            <a:fillRect/>
          </a:stretch>
        </p:blipFill>
        <p:spPr>
          <a:xfrm>
            <a:off x="2278674" y="3637444"/>
            <a:ext cx="3398738" cy="2980917"/>
          </a:xfrm>
          <a:prstGeom prst="rect">
            <a:avLst/>
          </a:prstGeom>
        </p:spPr>
      </p:pic>
      <p:sp>
        <p:nvSpPr>
          <p:cNvPr id="7" name="TextBox 6">
            <a:extLst>
              <a:ext uri="{FF2B5EF4-FFF2-40B4-BE49-F238E27FC236}">
                <a16:creationId xmlns:a16="http://schemas.microsoft.com/office/drawing/2014/main" id="{D00E08B6-52FF-D080-B960-70F6AC8B7B31}"/>
              </a:ext>
            </a:extLst>
          </p:cNvPr>
          <p:cNvSpPr txBox="1"/>
          <p:nvPr/>
        </p:nvSpPr>
        <p:spPr>
          <a:xfrm>
            <a:off x="691341" y="5224802"/>
            <a:ext cx="914400"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2400" dirty="0"/>
              <a:t>Maze</a:t>
            </a:r>
          </a:p>
        </p:txBody>
      </p:sp>
      <p:sp>
        <p:nvSpPr>
          <p:cNvPr id="8" name="TextBox 7">
            <a:extLst>
              <a:ext uri="{FF2B5EF4-FFF2-40B4-BE49-F238E27FC236}">
                <a16:creationId xmlns:a16="http://schemas.microsoft.com/office/drawing/2014/main" id="{8170A8A1-8DFF-2A74-695B-B50543E44AA8}"/>
              </a:ext>
            </a:extLst>
          </p:cNvPr>
          <p:cNvSpPr txBox="1"/>
          <p:nvPr/>
        </p:nvSpPr>
        <p:spPr>
          <a:xfrm>
            <a:off x="7694612" y="3212712"/>
            <a:ext cx="2743200"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2400" dirty="0"/>
              <a:t>Factory level plan</a:t>
            </a:r>
          </a:p>
        </p:txBody>
      </p:sp>
      <p:pic>
        <p:nvPicPr>
          <p:cNvPr id="10" name="Picture 9">
            <a:extLst>
              <a:ext uri="{FF2B5EF4-FFF2-40B4-BE49-F238E27FC236}">
                <a16:creationId xmlns:a16="http://schemas.microsoft.com/office/drawing/2014/main" id="{E41E598E-7C5E-C248-A772-36E1746E8B8D}"/>
              </a:ext>
            </a:extLst>
          </p:cNvPr>
          <p:cNvPicPr>
            <a:picLocks noChangeAspect="1"/>
          </p:cNvPicPr>
          <p:nvPr/>
        </p:nvPicPr>
        <p:blipFill>
          <a:blip r:embed="rId4"/>
          <a:stretch>
            <a:fillRect/>
          </a:stretch>
        </p:blipFill>
        <p:spPr>
          <a:xfrm>
            <a:off x="6553121" y="3722761"/>
            <a:ext cx="4464828" cy="2895600"/>
          </a:xfrm>
          <a:prstGeom prst="rect">
            <a:avLst/>
          </a:prstGeom>
        </p:spPr>
      </p:pic>
      <p:pic>
        <p:nvPicPr>
          <p:cNvPr id="12" name="Picture 11">
            <a:extLst>
              <a:ext uri="{FF2B5EF4-FFF2-40B4-BE49-F238E27FC236}">
                <a16:creationId xmlns:a16="http://schemas.microsoft.com/office/drawing/2014/main" id="{EB51F7FC-DD9C-2A34-3C56-50EC62ED344B}"/>
              </a:ext>
            </a:extLst>
          </p:cNvPr>
          <p:cNvPicPr>
            <a:picLocks noChangeAspect="1"/>
          </p:cNvPicPr>
          <p:nvPr/>
        </p:nvPicPr>
        <p:blipFill>
          <a:blip r:embed="rId5"/>
          <a:stretch>
            <a:fillRect/>
          </a:stretch>
        </p:blipFill>
        <p:spPr>
          <a:xfrm>
            <a:off x="6780212" y="329381"/>
            <a:ext cx="4010647" cy="2560469"/>
          </a:xfrm>
          <a:prstGeom prst="rect">
            <a:avLst/>
          </a:prstGeom>
        </p:spPr>
      </p:pic>
    </p:spTree>
    <p:extLst>
      <p:ext uri="{BB962C8B-B14F-4D97-AF65-F5344CB8AC3E}">
        <p14:creationId xmlns:p14="http://schemas.microsoft.com/office/powerpoint/2010/main" val="371212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B3E0-1BAB-0C11-E3C6-8B65E533AC11}"/>
              </a:ext>
            </a:extLst>
          </p:cNvPr>
          <p:cNvSpPr>
            <a:spLocks noGrp="1"/>
          </p:cNvSpPr>
          <p:nvPr>
            <p:ph type="title"/>
          </p:nvPr>
        </p:nvSpPr>
        <p:spPr/>
        <p:txBody>
          <a:bodyPr/>
          <a:lstStyle/>
          <a:p>
            <a:r>
              <a:rPr lang="en-US" dirty="0">
                <a:solidFill>
                  <a:srgbClr val="FFFFFF"/>
                </a:solidFill>
                <a:latin typeface="Consolas"/>
                <a:cs typeface="Times New Roman"/>
              </a:rPr>
              <a:t>Path-Finding Algorithms</a:t>
            </a:r>
            <a:endParaRPr lang="en-US" dirty="0"/>
          </a:p>
        </p:txBody>
      </p:sp>
      <p:sp>
        <p:nvSpPr>
          <p:cNvPr id="3" name="Content Placeholder 2">
            <a:extLst>
              <a:ext uri="{FF2B5EF4-FFF2-40B4-BE49-F238E27FC236}">
                <a16:creationId xmlns:a16="http://schemas.microsoft.com/office/drawing/2014/main" id="{D68435EE-D517-14F0-101D-1FEA1921B684}"/>
              </a:ext>
            </a:extLst>
          </p:cNvPr>
          <p:cNvSpPr>
            <a:spLocks noGrp="1"/>
          </p:cNvSpPr>
          <p:nvPr>
            <p:ph idx="1"/>
          </p:nvPr>
        </p:nvSpPr>
        <p:spPr>
          <a:xfrm>
            <a:off x="405456" y="1709456"/>
            <a:ext cx="5681424" cy="3247580"/>
          </a:xfrm>
        </p:spPr>
        <p:txBody>
          <a:bodyPr vert="horz" lIns="91440" tIns="45720" rIns="91440" bIns="45720" rtlCol="0" anchor="t">
            <a:normAutofit fontScale="70000" lnSpcReduction="20000"/>
          </a:bodyPr>
          <a:lstStyle/>
          <a:p>
            <a:pPr marL="0" indent="0">
              <a:buNone/>
            </a:pPr>
            <a:r>
              <a:rPr lang="en-US" dirty="0"/>
              <a:t>Algorithm Variables:</a:t>
            </a:r>
          </a:p>
          <a:p>
            <a:r>
              <a:rPr lang="en-US" dirty="0" err="1"/>
              <a:t>open_set</a:t>
            </a:r>
            <a:r>
              <a:rPr lang="en-US" dirty="0"/>
              <a:t>: List or priority queue for nodes to be evaluated.</a:t>
            </a:r>
          </a:p>
          <a:p>
            <a:r>
              <a:rPr lang="en-US" dirty="0" err="1"/>
              <a:t>closed_set</a:t>
            </a:r>
            <a:r>
              <a:rPr lang="en-US" dirty="0"/>
              <a:t>: Set for nodes that have already been evaluated.</a:t>
            </a:r>
          </a:p>
          <a:p>
            <a:r>
              <a:rPr lang="en-US" dirty="0" err="1"/>
              <a:t>came_from</a:t>
            </a:r>
            <a:r>
              <a:rPr lang="en-US" dirty="0"/>
              <a:t>: Dictionary for tracking the best path.</a:t>
            </a:r>
          </a:p>
          <a:p>
            <a:r>
              <a:rPr lang="en-US" err="1"/>
              <a:t>g_score</a:t>
            </a:r>
            <a:r>
              <a:rPr lang="en-US"/>
              <a:t>: Dictionary for storing the cost from the start to each node.</a:t>
            </a:r>
          </a:p>
          <a:p>
            <a:r>
              <a:rPr lang="en-US" dirty="0" err="1"/>
              <a:t>f_score</a:t>
            </a:r>
            <a:r>
              <a:rPr lang="en-US" dirty="0"/>
              <a:t>: Dictionary for storing the estimated total cost to the goal.</a:t>
            </a:r>
          </a:p>
          <a:p>
            <a:endParaRPr lang="en-US" dirty="0"/>
          </a:p>
        </p:txBody>
      </p:sp>
      <p:pic>
        <p:nvPicPr>
          <p:cNvPr id="4" name="Picture 3" descr="Sensors 24 08089 g004">
            <a:extLst>
              <a:ext uri="{FF2B5EF4-FFF2-40B4-BE49-F238E27FC236}">
                <a16:creationId xmlns:a16="http://schemas.microsoft.com/office/drawing/2014/main" id="{8CFD3530-CF34-7A75-4ABC-AB381DFE6A19}"/>
              </a:ext>
            </a:extLst>
          </p:cNvPr>
          <p:cNvPicPr>
            <a:picLocks noChangeAspect="1"/>
          </p:cNvPicPr>
          <p:nvPr/>
        </p:nvPicPr>
        <p:blipFill>
          <a:blip r:embed="rId2"/>
          <a:stretch>
            <a:fillRect/>
          </a:stretch>
        </p:blipFill>
        <p:spPr>
          <a:xfrm>
            <a:off x="6300518" y="1929652"/>
            <a:ext cx="5675218" cy="4353535"/>
          </a:xfrm>
          <a:prstGeom prst="rect">
            <a:avLst/>
          </a:prstGeom>
        </p:spPr>
      </p:pic>
      <p:sp>
        <p:nvSpPr>
          <p:cNvPr id="5" name="TextBox 4">
            <a:extLst>
              <a:ext uri="{FF2B5EF4-FFF2-40B4-BE49-F238E27FC236}">
                <a16:creationId xmlns:a16="http://schemas.microsoft.com/office/drawing/2014/main" id="{BD41FCEB-E8E1-F3E9-3055-2FAA600A1FB6}"/>
              </a:ext>
            </a:extLst>
          </p:cNvPr>
          <p:cNvSpPr txBox="1"/>
          <p:nvPr/>
        </p:nvSpPr>
        <p:spPr>
          <a:xfrm>
            <a:off x="74612" y="6283187"/>
            <a:ext cx="4495798" cy="424732"/>
          </a:xfrm>
          <a:prstGeom prst="rect">
            <a:avLst/>
          </a:prstGeom>
          <a:noFill/>
        </p:spPr>
        <p:txBody>
          <a:bodyPr wrap="square" rtlCol="0">
            <a:spAutoFit/>
          </a:bodyPr>
          <a:lstStyle/>
          <a:p>
            <a:pPr>
              <a:lnSpc>
                <a:spcPct val="90000"/>
              </a:lnSpc>
            </a:pPr>
            <a:r>
              <a:rPr lang="en-US" sz="2400" dirty="0">
                <a:solidFill>
                  <a:schemeClr val="accent1"/>
                </a:solidFill>
              </a:rPr>
              <a:t>Design Variable for A* algorithm</a:t>
            </a:r>
            <a:endParaRPr lang="en-IN" sz="2400" dirty="0">
              <a:solidFill>
                <a:schemeClr val="accent1"/>
              </a:solidFill>
            </a:endParaRPr>
          </a:p>
        </p:txBody>
      </p:sp>
    </p:spTree>
    <p:extLst>
      <p:ext uri="{BB962C8B-B14F-4D97-AF65-F5344CB8AC3E}">
        <p14:creationId xmlns:p14="http://schemas.microsoft.com/office/powerpoint/2010/main" val="356952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8281-93DF-F084-4A26-9DD9901203B2}"/>
              </a:ext>
            </a:extLst>
          </p:cNvPr>
          <p:cNvSpPr>
            <a:spLocks noGrp="1"/>
          </p:cNvSpPr>
          <p:nvPr>
            <p:ph type="title"/>
          </p:nvPr>
        </p:nvSpPr>
        <p:spPr/>
        <p:txBody>
          <a:bodyPr/>
          <a:lstStyle/>
          <a:p>
            <a:r>
              <a:rPr lang="en-US" dirty="0"/>
              <a:t>Grid based Algorithms</a:t>
            </a:r>
          </a:p>
        </p:txBody>
      </p:sp>
      <p:sp>
        <p:nvSpPr>
          <p:cNvPr id="3" name="Content Placeholder 2">
            <a:extLst>
              <a:ext uri="{FF2B5EF4-FFF2-40B4-BE49-F238E27FC236}">
                <a16:creationId xmlns:a16="http://schemas.microsoft.com/office/drawing/2014/main" id="{0136D596-8F93-6FFA-35F6-BC8EBC5B8C5F}"/>
              </a:ext>
            </a:extLst>
          </p:cNvPr>
          <p:cNvSpPr>
            <a:spLocks noGrp="1"/>
          </p:cNvSpPr>
          <p:nvPr>
            <p:ph idx="1"/>
          </p:nvPr>
        </p:nvSpPr>
        <p:spPr>
          <a:xfrm>
            <a:off x="948377" y="1775685"/>
            <a:ext cx="3014682" cy="468063"/>
          </a:xfrm>
        </p:spPr>
        <p:txBody>
          <a:bodyPr vert="horz" lIns="91440" tIns="45720" rIns="91440" bIns="45720" rtlCol="0" anchor="t">
            <a:normAutofit/>
          </a:bodyPr>
          <a:lstStyle/>
          <a:p>
            <a:r>
              <a:rPr lang="en-US" dirty="0"/>
              <a:t>A* algorithm </a:t>
            </a:r>
          </a:p>
        </p:txBody>
      </p:sp>
      <p:pic>
        <p:nvPicPr>
          <p:cNvPr id="4" name="Picture 3" descr="A black and white pixelated background with a blue line&#10;&#10;AI-generated content may be incorrect.">
            <a:extLst>
              <a:ext uri="{FF2B5EF4-FFF2-40B4-BE49-F238E27FC236}">
                <a16:creationId xmlns:a16="http://schemas.microsoft.com/office/drawing/2014/main" id="{AA5145FC-2ACA-D1BC-63DF-3C7CCF55BA68}"/>
              </a:ext>
            </a:extLst>
          </p:cNvPr>
          <p:cNvPicPr>
            <a:picLocks noChangeAspect="1"/>
          </p:cNvPicPr>
          <p:nvPr/>
        </p:nvPicPr>
        <p:blipFill>
          <a:blip r:embed="rId2"/>
          <a:stretch>
            <a:fillRect/>
          </a:stretch>
        </p:blipFill>
        <p:spPr>
          <a:xfrm>
            <a:off x="492092" y="2243748"/>
            <a:ext cx="3542393" cy="3543766"/>
          </a:xfrm>
          <a:prstGeom prst="rect">
            <a:avLst/>
          </a:prstGeom>
        </p:spPr>
      </p:pic>
      <p:pic>
        <p:nvPicPr>
          <p:cNvPr id="5" name="Picture 4" descr="A black and white pixelated background with a blue line&#10;&#10;AI-generated content may be incorrect.">
            <a:extLst>
              <a:ext uri="{FF2B5EF4-FFF2-40B4-BE49-F238E27FC236}">
                <a16:creationId xmlns:a16="http://schemas.microsoft.com/office/drawing/2014/main" id="{BE2654E2-7B30-86B1-29D7-9CC51ACD1F05}"/>
              </a:ext>
            </a:extLst>
          </p:cNvPr>
          <p:cNvPicPr>
            <a:picLocks noChangeAspect="1"/>
          </p:cNvPicPr>
          <p:nvPr/>
        </p:nvPicPr>
        <p:blipFill>
          <a:blip r:embed="rId3"/>
          <a:stretch>
            <a:fillRect/>
          </a:stretch>
        </p:blipFill>
        <p:spPr>
          <a:xfrm>
            <a:off x="4331641" y="2243749"/>
            <a:ext cx="3542394" cy="3543766"/>
          </a:xfrm>
          <a:prstGeom prst="rect">
            <a:avLst/>
          </a:prstGeom>
        </p:spPr>
      </p:pic>
      <p:sp>
        <p:nvSpPr>
          <p:cNvPr id="7" name="Content Placeholder 2">
            <a:extLst>
              <a:ext uri="{FF2B5EF4-FFF2-40B4-BE49-F238E27FC236}">
                <a16:creationId xmlns:a16="http://schemas.microsoft.com/office/drawing/2014/main" id="{CF605624-1A73-D263-E52C-F287F613A47A}"/>
              </a:ext>
            </a:extLst>
          </p:cNvPr>
          <p:cNvSpPr txBox="1">
            <a:spLocks/>
          </p:cNvSpPr>
          <p:nvPr/>
        </p:nvSpPr>
        <p:spPr>
          <a:xfrm>
            <a:off x="4595497" y="1775684"/>
            <a:ext cx="3014682" cy="468063"/>
          </a:xfrm>
          <a:prstGeom prst="rect">
            <a:avLst/>
          </a:prstGeom>
        </p:spPr>
        <p:txBody>
          <a:bodyPr vert="horz" lIns="91440" tIns="45720" rIns="91440" bIns="45720" rtlCol="0" anchor="t">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r>
              <a:rPr lang="en-US" dirty="0"/>
              <a:t>Dijkstra's algorithm </a:t>
            </a:r>
          </a:p>
        </p:txBody>
      </p:sp>
      <p:pic>
        <p:nvPicPr>
          <p:cNvPr id="8" name="Picture 7" descr="A black text on a white background&#10;&#10;AI-generated content may be incorrect.">
            <a:extLst>
              <a:ext uri="{FF2B5EF4-FFF2-40B4-BE49-F238E27FC236}">
                <a16:creationId xmlns:a16="http://schemas.microsoft.com/office/drawing/2014/main" id="{C04271E3-FB64-B00F-A5D6-A7E611D3BA30}"/>
              </a:ext>
            </a:extLst>
          </p:cNvPr>
          <p:cNvPicPr>
            <a:picLocks noChangeAspect="1"/>
          </p:cNvPicPr>
          <p:nvPr/>
        </p:nvPicPr>
        <p:blipFill>
          <a:blip r:embed="rId4"/>
          <a:stretch>
            <a:fillRect/>
          </a:stretch>
        </p:blipFill>
        <p:spPr>
          <a:xfrm>
            <a:off x="8068290" y="3022907"/>
            <a:ext cx="3887816" cy="1720068"/>
          </a:xfrm>
          <a:prstGeom prst="rect">
            <a:avLst/>
          </a:prstGeom>
        </p:spPr>
      </p:pic>
    </p:spTree>
    <p:extLst>
      <p:ext uri="{BB962C8B-B14F-4D97-AF65-F5344CB8AC3E}">
        <p14:creationId xmlns:p14="http://schemas.microsoft.com/office/powerpoint/2010/main" val="230692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88D52-0AAF-66F0-2507-7227BA080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B78D3-A62B-4FE7-CC0F-4D173B4003BF}"/>
              </a:ext>
            </a:extLst>
          </p:cNvPr>
          <p:cNvSpPr>
            <a:spLocks noGrp="1"/>
          </p:cNvSpPr>
          <p:nvPr>
            <p:ph type="title"/>
          </p:nvPr>
        </p:nvSpPr>
        <p:spPr/>
        <p:txBody>
          <a:bodyPr/>
          <a:lstStyle/>
          <a:p>
            <a:r>
              <a:rPr lang="en-US" dirty="0"/>
              <a:t>Sampling based Algorithms</a:t>
            </a:r>
          </a:p>
        </p:txBody>
      </p:sp>
      <p:sp>
        <p:nvSpPr>
          <p:cNvPr id="3" name="Content Placeholder 2">
            <a:extLst>
              <a:ext uri="{FF2B5EF4-FFF2-40B4-BE49-F238E27FC236}">
                <a16:creationId xmlns:a16="http://schemas.microsoft.com/office/drawing/2014/main" id="{D3162173-FD09-1404-49F3-5C07A6ADF73E}"/>
              </a:ext>
            </a:extLst>
          </p:cNvPr>
          <p:cNvSpPr>
            <a:spLocks noGrp="1"/>
          </p:cNvSpPr>
          <p:nvPr>
            <p:ph idx="1"/>
          </p:nvPr>
        </p:nvSpPr>
        <p:spPr>
          <a:xfrm>
            <a:off x="754504" y="1611684"/>
            <a:ext cx="3014682" cy="468063"/>
          </a:xfrm>
        </p:spPr>
        <p:txBody>
          <a:bodyPr vert="horz" lIns="91440" tIns="45720" rIns="91440" bIns="45720" rtlCol="0" anchor="t">
            <a:normAutofit/>
          </a:bodyPr>
          <a:lstStyle/>
          <a:p>
            <a:r>
              <a:rPr lang="en-US" dirty="0"/>
              <a:t>PRM algorithm </a:t>
            </a:r>
          </a:p>
        </p:txBody>
      </p:sp>
      <p:sp>
        <p:nvSpPr>
          <p:cNvPr id="7" name="Content Placeholder 2">
            <a:extLst>
              <a:ext uri="{FF2B5EF4-FFF2-40B4-BE49-F238E27FC236}">
                <a16:creationId xmlns:a16="http://schemas.microsoft.com/office/drawing/2014/main" id="{6F1C7A75-CA1A-3D19-FBDF-AFAC72AC673B}"/>
              </a:ext>
            </a:extLst>
          </p:cNvPr>
          <p:cNvSpPr txBox="1">
            <a:spLocks/>
          </p:cNvSpPr>
          <p:nvPr/>
        </p:nvSpPr>
        <p:spPr>
          <a:xfrm>
            <a:off x="4467213" y="1610442"/>
            <a:ext cx="3014682" cy="468063"/>
          </a:xfrm>
          <a:prstGeom prst="rect">
            <a:avLst/>
          </a:prstGeom>
        </p:spPr>
        <p:txBody>
          <a:bodyPr vert="horz" lIns="91440" tIns="45720" rIns="91440" bIns="45720" rtlCol="0" anchor="t">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r>
              <a:rPr lang="en-US" dirty="0"/>
              <a:t>RRT algorithm </a:t>
            </a:r>
          </a:p>
        </p:txBody>
      </p:sp>
      <p:pic>
        <p:nvPicPr>
          <p:cNvPr id="6" name="Picture 5" descr="A black and white pixelated background with a line going up&#10;&#10;AI-generated content may be incorrect.">
            <a:extLst>
              <a:ext uri="{FF2B5EF4-FFF2-40B4-BE49-F238E27FC236}">
                <a16:creationId xmlns:a16="http://schemas.microsoft.com/office/drawing/2014/main" id="{91B935CC-8B0D-9CAB-2A6D-A1A1DDA41AAD}"/>
              </a:ext>
            </a:extLst>
          </p:cNvPr>
          <p:cNvPicPr>
            <a:picLocks noChangeAspect="1"/>
          </p:cNvPicPr>
          <p:nvPr/>
        </p:nvPicPr>
        <p:blipFill>
          <a:blip r:embed="rId2"/>
          <a:stretch>
            <a:fillRect/>
          </a:stretch>
        </p:blipFill>
        <p:spPr>
          <a:xfrm>
            <a:off x="240777" y="2243749"/>
            <a:ext cx="3765785" cy="3697408"/>
          </a:xfrm>
          <a:prstGeom prst="rect">
            <a:avLst/>
          </a:prstGeom>
        </p:spPr>
      </p:pic>
      <p:pic>
        <p:nvPicPr>
          <p:cNvPr id="9" name="Picture 8" descr="A blue square with black and white squares&#10;&#10;AI-generated content may be incorrect.">
            <a:extLst>
              <a:ext uri="{FF2B5EF4-FFF2-40B4-BE49-F238E27FC236}">
                <a16:creationId xmlns:a16="http://schemas.microsoft.com/office/drawing/2014/main" id="{375D6183-7799-0AC6-046D-1572728695B7}"/>
              </a:ext>
            </a:extLst>
          </p:cNvPr>
          <p:cNvPicPr>
            <a:picLocks noChangeAspect="1"/>
          </p:cNvPicPr>
          <p:nvPr/>
        </p:nvPicPr>
        <p:blipFill>
          <a:blip r:embed="rId3"/>
          <a:stretch>
            <a:fillRect/>
          </a:stretch>
        </p:blipFill>
        <p:spPr>
          <a:xfrm>
            <a:off x="4205985" y="2243749"/>
            <a:ext cx="3765786" cy="3697408"/>
          </a:xfrm>
          <a:prstGeom prst="rect">
            <a:avLst/>
          </a:prstGeom>
        </p:spPr>
      </p:pic>
      <p:pic>
        <p:nvPicPr>
          <p:cNvPr id="10" name="Picture 9" descr="A number and numbers on a white background&#10;&#10;AI-generated content may be incorrect.">
            <a:extLst>
              <a:ext uri="{FF2B5EF4-FFF2-40B4-BE49-F238E27FC236}">
                <a16:creationId xmlns:a16="http://schemas.microsoft.com/office/drawing/2014/main" id="{14EB9F0B-E4B4-7E15-F5B7-835348E88030}"/>
              </a:ext>
            </a:extLst>
          </p:cNvPr>
          <p:cNvPicPr>
            <a:picLocks noChangeAspect="1"/>
          </p:cNvPicPr>
          <p:nvPr/>
        </p:nvPicPr>
        <p:blipFill>
          <a:blip r:embed="rId4"/>
          <a:stretch>
            <a:fillRect/>
          </a:stretch>
        </p:blipFill>
        <p:spPr>
          <a:xfrm>
            <a:off x="8169825" y="2926095"/>
            <a:ext cx="3782479" cy="1452766"/>
          </a:xfrm>
          <a:prstGeom prst="rect">
            <a:avLst/>
          </a:prstGeom>
        </p:spPr>
      </p:pic>
    </p:spTree>
    <p:extLst>
      <p:ext uri="{BB962C8B-B14F-4D97-AF65-F5344CB8AC3E}">
        <p14:creationId xmlns:p14="http://schemas.microsoft.com/office/powerpoint/2010/main" val="422763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123F43-8A87-6292-E84D-8B4CD1080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648F9-7EB4-D666-8629-F1F07ECC7B71}"/>
              </a:ext>
            </a:extLst>
          </p:cNvPr>
          <p:cNvSpPr>
            <a:spLocks noGrp="1"/>
          </p:cNvSpPr>
          <p:nvPr>
            <p:ph type="title"/>
          </p:nvPr>
        </p:nvSpPr>
        <p:spPr/>
        <p:txBody>
          <a:bodyPr/>
          <a:lstStyle/>
          <a:p>
            <a:r>
              <a:rPr lang="en-US" dirty="0"/>
              <a:t>Bio inspired Algorithms</a:t>
            </a:r>
          </a:p>
        </p:txBody>
      </p:sp>
      <p:sp>
        <p:nvSpPr>
          <p:cNvPr id="3" name="Content Placeholder 2">
            <a:extLst>
              <a:ext uri="{FF2B5EF4-FFF2-40B4-BE49-F238E27FC236}">
                <a16:creationId xmlns:a16="http://schemas.microsoft.com/office/drawing/2014/main" id="{F173B978-70A3-14E9-EB96-AC00552C6288}"/>
              </a:ext>
            </a:extLst>
          </p:cNvPr>
          <p:cNvSpPr>
            <a:spLocks noGrp="1"/>
          </p:cNvSpPr>
          <p:nvPr>
            <p:ph idx="1"/>
          </p:nvPr>
        </p:nvSpPr>
        <p:spPr>
          <a:xfrm>
            <a:off x="455612" y="1623559"/>
            <a:ext cx="4953000" cy="465617"/>
          </a:xfrm>
        </p:spPr>
        <p:txBody>
          <a:bodyPr vert="horz" lIns="91440" tIns="45720" rIns="91440" bIns="45720" rtlCol="0" anchor="t">
            <a:normAutofit fontScale="92500"/>
          </a:bodyPr>
          <a:lstStyle/>
          <a:p>
            <a:r>
              <a:rPr lang="en-US" dirty="0"/>
              <a:t>WOA (whale optimization)algorithm </a:t>
            </a:r>
          </a:p>
        </p:txBody>
      </p:sp>
      <p:sp>
        <p:nvSpPr>
          <p:cNvPr id="7" name="Content Placeholder 2">
            <a:extLst>
              <a:ext uri="{FF2B5EF4-FFF2-40B4-BE49-F238E27FC236}">
                <a16:creationId xmlns:a16="http://schemas.microsoft.com/office/drawing/2014/main" id="{DB8F31B3-6259-D91A-015C-CEB9FFA7BA46}"/>
              </a:ext>
            </a:extLst>
          </p:cNvPr>
          <p:cNvSpPr txBox="1">
            <a:spLocks/>
          </p:cNvSpPr>
          <p:nvPr/>
        </p:nvSpPr>
        <p:spPr>
          <a:xfrm>
            <a:off x="6094412" y="1676400"/>
            <a:ext cx="5047307" cy="478734"/>
          </a:xfrm>
          <a:prstGeom prst="rect">
            <a:avLst/>
          </a:prstGeom>
        </p:spPr>
        <p:txBody>
          <a:bodyPr vert="horz" lIns="91440" tIns="45720" rIns="91440" bIns="45720" rtlCol="0" anchor="t">
            <a:normAutofit fontScale="850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r>
              <a:rPr lang="en-US" dirty="0"/>
              <a:t>GWO (grey wolf optimization)algorithm </a:t>
            </a:r>
          </a:p>
        </p:txBody>
      </p:sp>
      <p:pic>
        <p:nvPicPr>
          <p:cNvPr id="4" name="Picture 3" descr="A graph on a grid&#10;&#10;AI-generated content may be incorrect.">
            <a:extLst>
              <a:ext uri="{FF2B5EF4-FFF2-40B4-BE49-F238E27FC236}">
                <a16:creationId xmlns:a16="http://schemas.microsoft.com/office/drawing/2014/main" id="{34CFA18B-DC05-F6D2-98CE-E1C880DE2833}"/>
              </a:ext>
            </a:extLst>
          </p:cNvPr>
          <p:cNvPicPr>
            <a:picLocks noChangeAspect="1"/>
          </p:cNvPicPr>
          <p:nvPr/>
        </p:nvPicPr>
        <p:blipFill>
          <a:blip r:embed="rId2"/>
          <a:stretch>
            <a:fillRect/>
          </a:stretch>
        </p:blipFill>
        <p:spPr>
          <a:xfrm>
            <a:off x="1406572" y="2089176"/>
            <a:ext cx="3675592" cy="3852910"/>
          </a:xfrm>
          <a:prstGeom prst="rect">
            <a:avLst/>
          </a:prstGeom>
        </p:spPr>
      </p:pic>
      <p:pic>
        <p:nvPicPr>
          <p:cNvPr id="5" name="Picture 4" descr="A graph on a grid&#10;&#10;AI-generated content may be incorrect.">
            <a:extLst>
              <a:ext uri="{FF2B5EF4-FFF2-40B4-BE49-F238E27FC236}">
                <a16:creationId xmlns:a16="http://schemas.microsoft.com/office/drawing/2014/main" id="{C567B554-503C-3F29-FDA2-E7AD2CFD3206}"/>
              </a:ext>
            </a:extLst>
          </p:cNvPr>
          <p:cNvPicPr>
            <a:picLocks noChangeAspect="1"/>
          </p:cNvPicPr>
          <p:nvPr/>
        </p:nvPicPr>
        <p:blipFill>
          <a:blip r:embed="rId3"/>
          <a:stretch>
            <a:fillRect/>
          </a:stretch>
        </p:blipFill>
        <p:spPr>
          <a:xfrm>
            <a:off x="6612605" y="2077301"/>
            <a:ext cx="3960028" cy="3851068"/>
          </a:xfrm>
          <a:prstGeom prst="rect">
            <a:avLst/>
          </a:prstGeom>
        </p:spPr>
      </p:pic>
    </p:spTree>
    <p:extLst>
      <p:ext uri="{BB962C8B-B14F-4D97-AF65-F5344CB8AC3E}">
        <p14:creationId xmlns:p14="http://schemas.microsoft.com/office/powerpoint/2010/main" val="2130384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DE1D-A053-04D7-BAC0-D0B8F1BE439A}"/>
              </a:ext>
            </a:extLst>
          </p:cNvPr>
          <p:cNvSpPr>
            <a:spLocks noGrp="1"/>
          </p:cNvSpPr>
          <p:nvPr>
            <p:ph type="title"/>
          </p:nvPr>
        </p:nvSpPr>
        <p:spPr/>
        <p:txBody>
          <a:bodyPr/>
          <a:lstStyle/>
          <a:p>
            <a:r>
              <a:rPr lang="en-US" dirty="0"/>
              <a:t>Improved A*</a:t>
            </a:r>
          </a:p>
        </p:txBody>
      </p:sp>
      <p:pic>
        <p:nvPicPr>
          <p:cNvPr id="5" name="Picture 4" descr="A black and white grid with blue dots and a path&#10;&#10;AI-generated content may be incorrect.">
            <a:extLst>
              <a:ext uri="{FF2B5EF4-FFF2-40B4-BE49-F238E27FC236}">
                <a16:creationId xmlns:a16="http://schemas.microsoft.com/office/drawing/2014/main" id="{F3E0402F-5FB6-7FF5-4379-8AD8EA6425B5}"/>
              </a:ext>
            </a:extLst>
          </p:cNvPr>
          <p:cNvPicPr>
            <a:picLocks noChangeAspect="1"/>
          </p:cNvPicPr>
          <p:nvPr/>
        </p:nvPicPr>
        <p:blipFill>
          <a:blip r:embed="rId2"/>
          <a:stretch>
            <a:fillRect/>
          </a:stretch>
        </p:blipFill>
        <p:spPr>
          <a:xfrm>
            <a:off x="389572" y="1992569"/>
            <a:ext cx="3242442" cy="3458972"/>
          </a:xfrm>
          <a:prstGeom prst="rect">
            <a:avLst/>
          </a:prstGeom>
        </p:spPr>
      </p:pic>
      <p:pic>
        <p:nvPicPr>
          <p:cNvPr id="6" name="Picture 5" descr="A black and white grid with a line pointing to the end&#10;&#10;AI-generated content may be incorrect.">
            <a:extLst>
              <a:ext uri="{FF2B5EF4-FFF2-40B4-BE49-F238E27FC236}">
                <a16:creationId xmlns:a16="http://schemas.microsoft.com/office/drawing/2014/main" id="{1D599A3B-16D5-96F2-866C-C7DFB4E1B387}"/>
              </a:ext>
            </a:extLst>
          </p:cNvPr>
          <p:cNvPicPr>
            <a:picLocks noChangeAspect="1"/>
          </p:cNvPicPr>
          <p:nvPr/>
        </p:nvPicPr>
        <p:blipFill>
          <a:blip r:embed="rId3"/>
          <a:stretch>
            <a:fillRect/>
          </a:stretch>
        </p:blipFill>
        <p:spPr>
          <a:xfrm>
            <a:off x="4466476" y="2020503"/>
            <a:ext cx="3033013" cy="3277396"/>
          </a:xfrm>
          <a:prstGeom prst="rect">
            <a:avLst/>
          </a:prstGeom>
        </p:spPr>
      </p:pic>
      <p:pic>
        <p:nvPicPr>
          <p:cNvPr id="10" name="Picture 9" descr="A grid with arrows and numbers&#10;&#10;AI-generated content may be incorrect.">
            <a:extLst>
              <a:ext uri="{FF2B5EF4-FFF2-40B4-BE49-F238E27FC236}">
                <a16:creationId xmlns:a16="http://schemas.microsoft.com/office/drawing/2014/main" id="{2600F4E2-78C4-9BA9-A532-EA903EAA0EB8}"/>
              </a:ext>
            </a:extLst>
          </p:cNvPr>
          <p:cNvPicPr>
            <a:picLocks noChangeAspect="1"/>
          </p:cNvPicPr>
          <p:nvPr/>
        </p:nvPicPr>
        <p:blipFill>
          <a:blip r:embed="rId4"/>
          <a:stretch>
            <a:fillRect/>
          </a:stretch>
        </p:blipFill>
        <p:spPr>
          <a:xfrm>
            <a:off x="2971175" y="2954031"/>
            <a:ext cx="1332383" cy="1186862"/>
          </a:xfrm>
          <a:prstGeom prst="rect">
            <a:avLst/>
          </a:prstGeom>
        </p:spPr>
      </p:pic>
      <p:pic>
        <p:nvPicPr>
          <p:cNvPr id="11" name="Picture 10" descr="A grid with arrows and numbers&#10;&#10;AI-generated content may be incorrect.">
            <a:extLst>
              <a:ext uri="{FF2B5EF4-FFF2-40B4-BE49-F238E27FC236}">
                <a16:creationId xmlns:a16="http://schemas.microsoft.com/office/drawing/2014/main" id="{94C87C2B-C612-E4CC-B6FC-BF3B69652EB1}"/>
              </a:ext>
            </a:extLst>
          </p:cNvPr>
          <p:cNvPicPr>
            <a:picLocks noChangeAspect="1"/>
          </p:cNvPicPr>
          <p:nvPr/>
        </p:nvPicPr>
        <p:blipFill>
          <a:blip r:embed="rId5"/>
          <a:stretch>
            <a:fillRect/>
          </a:stretch>
        </p:blipFill>
        <p:spPr>
          <a:xfrm>
            <a:off x="6856412" y="2971800"/>
            <a:ext cx="1450438" cy="1374801"/>
          </a:xfrm>
          <a:prstGeom prst="rect">
            <a:avLst/>
          </a:prstGeom>
        </p:spPr>
      </p:pic>
      <p:pic>
        <p:nvPicPr>
          <p:cNvPr id="14" name="Picture 13">
            <a:extLst>
              <a:ext uri="{FF2B5EF4-FFF2-40B4-BE49-F238E27FC236}">
                <a16:creationId xmlns:a16="http://schemas.microsoft.com/office/drawing/2014/main" id="{9FBD95E6-83C4-FE79-E457-1DA9CFCF3696}"/>
              </a:ext>
            </a:extLst>
          </p:cNvPr>
          <p:cNvPicPr>
            <a:picLocks noChangeAspect="1"/>
          </p:cNvPicPr>
          <p:nvPr/>
        </p:nvPicPr>
        <p:blipFill>
          <a:blip r:embed="rId6"/>
          <a:stretch>
            <a:fillRect/>
          </a:stretch>
        </p:blipFill>
        <p:spPr>
          <a:xfrm>
            <a:off x="386489" y="5353662"/>
            <a:ext cx="3248608" cy="647660"/>
          </a:xfrm>
          <a:prstGeom prst="rect">
            <a:avLst/>
          </a:prstGeom>
        </p:spPr>
      </p:pic>
      <p:pic>
        <p:nvPicPr>
          <p:cNvPr id="15" name="Picture 14">
            <a:extLst>
              <a:ext uri="{FF2B5EF4-FFF2-40B4-BE49-F238E27FC236}">
                <a16:creationId xmlns:a16="http://schemas.microsoft.com/office/drawing/2014/main" id="{A224E138-DCCE-2BCE-9FDC-AC545D5B54AB}"/>
              </a:ext>
            </a:extLst>
          </p:cNvPr>
          <p:cNvPicPr>
            <a:picLocks noChangeAspect="1"/>
          </p:cNvPicPr>
          <p:nvPr/>
        </p:nvPicPr>
        <p:blipFill>
          <a:blip r:embed="rId7"/>
          <a:stretch>
            <a:fillRect/>
          </a:stretch>
        </p:blipFill>
        <p:spPr>
          <a:xfrm>
            <a:off x="4460232" y="5185731"/>
            <a:ext cx="3031538" cy="815910"/>
          </a:xfrm>
          <a:prstGeom prst="rect">
            <a:avLst/>
          </a:prstGeom>
        </p:spPr>
      </p:pic>
      <p:pic>
        <p:nvPicPr>
          <p:cNvPr id="17" name="Picture 16" descr="A graph of a path&#10;&#10;AI-generated content may be incorrect.">
            <a:extLst>
              <a:ext uri="{FF2B5EF4-FFF2-40B4-BE49-F238E27FC236}">
                <a16:creationId xmlns:a16="http://schemas.microsoft.com/office/drawing/2014/main" id="{0A2BE67C-A8A1-16A5-BB1C-90E4FBCD9642}"/>
              </a:ext>
            </a:extLst>
          </p:cNvPr>
          <p:cNvPicPr>
            <a:picLocks noChangeAspect="1"/>
          </p:cNvPicPr>
          <p:nvPr/>
        </p:nvPicPr>
        <p:blipFill>
          <a:blip r:embed="rId8"/>
          <a:stretch>
            <a:fillRect/>
          </a:stretch>
        </p:blipFill>
        <p:spPr>
          <a:xfrm>
            <a:off x="8761412" y="2077034"/>
            <a:ext cx="3138388" cy="3204746"/>
          </a:xfrm>
          <a:prstGeom prst="rect">
            <a:avLst/>
          </a:prstGeom>
        </p:spPr>
      </p:pic>
      <p:pic>
        <p:nvPicPr>
          <p:cNvPr id="18" name="Picture 17" descr="A screenshot of a computer code&#10;&#10;AI-generated content may be incorrect.">
            <a:extLst>
              <a:ext uri="{FF2B5EF4-FFF2-40B4-BE49-F238E27FC236}">
                <a16:creationId xmlns:a16="http://schemas.microsoft.com/office/drawing/2014/main" id="{66CD77DC-C6C9-CE1F-1F08-C7BC064A3ACC}"/>
              </a:ext>
            </a:extLst>
          </p:cNvPr>
          <p:cNvPicPr>
            <a:picLocks noChangeAspect="1"/>
          </p:cNvPicPr>
          <p:nvPr/>
        </p:nvPicPr>
        <p:blipFill>
          <a:blip r:embed="rId9"/>
          <a:stretch>
            <a:fillRect/>
          </a:stretch>
        </p:blipFill>
        <p:spPr>
          <a:xfrm>
            <a:off x="8757082" y="5235414"/>
            <a:ext cx="3172594" cy="798859"/>
          </a:xfrm>
          <a:prstGeom prst="rect">
            <a:avLst/>
          </a:prstGeom>
        </p:spPr>
      </p:pic>
    </p:spTree>
    <p:extLst>
      <p:ext uri="{BB962C8B-B14F-4D97-AF65-F5344CB8AC3E}">
        <p14:creationId xmlns:p14="http://schemas.microsoft.com/office/powerpoint/2010/main" val="669829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9609-CFB8-F349-36B9-F5EC9D761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D3E86-ECD2-D1C5-1DE8-08794F3DADE1}"/>
              </a:ext>
            </a:extLst>
          </p:cNvPr>
          <p:cNvSpPr>
            <a:spLocks noGrp="1"/>
          </p:cNvSpPr>
          <p:nvPr>
            <p:ph type="title"/>
          </p:nvPr>
        </p:nvSpPr>
        <p:spPr/>
        <p:txBody>
          <a:bodyPr/>
          <a:lstStyle/>
          <a:p>
            <a:r>
              <a:rPr lang="en-US" dirty="0"/>
              <a:t>Comparison</a:t>
            </a:r>
          </a:p>
        </p:txBody>
      </p:sp>
      <p:graphicFrame>
        <p:nvGraphicFramePr>
          <p:cNvPr id="28" name="Table 27">
            <a:extLst>
              <a:ext uri="{FF2B5EF4-FFF2-40B4-BE49-F238E27FC236}">
                <a16:creationId xmlns:a16="http://schemas.microsoft.com/office/drawing/2014/main" id="{0A460046-0ACF-CECE-7A0C-A7827924FE92}"/>
              </a:ext>
            </a:extLst>
          </p:cNvPr>
          <p:cNvGraphicFramePr>
            <a:graphicFrameLocks noGrp="1"/>
          </p:cNvGraphicFramePr>
          <p:nvPr>
            <p:extLst>
              <p:ext uri="{D42A27DB-BD31-4B8C-83A1-F6EECF244321}">
                <p14:modId xmlns:p14="http://schemas.microsoft.com/office/powerpoint/2010/main" val="86318900"/>
              </p:ext>
            </p:extLst>
          </p:nvPr>
        </p:nvGraphicFramePr>
        <p:xfrm>
          <a:off x="5955124" y="3051026"/>
          <a:ext cx="5491224" cy="1483359"/>
        </p:xfrm>
        <a:graphic>
          <a:graphicData uri="http://schemas.openxmlformats.org/drawingml/2006/table">
            <a:tbl>
              <a:tblPr firstRow="1" bandRow="1">
                <a:tableStyleId>{6E25E649-3F16-4E02-A733-19D2CDBF48F0}</a:tableStyleId>
              </a:tblPr>
              <a:tblGrid>
                <a:gridCol w="1830408">
                  <a:extLst>
                    <a:ext uri="{9D8B030D-6E8A-4147-A177-3AD203B41FA5}">
                      <a16:colId xmlns:a16="http://schemas.microsoft.com/office/drawing/2014/main" val="1435432151"/>
                    </a:ext>
                  </a:extLst>
                </a:gridCol>
                <a:gridCol w="1830408">
                  <a:extLst>
                    <a:ext uri="{9D8B030D-6E8A-4147-A177-3AD203B41FA5}">
                      <a16:colId xmlns:a16="http://schemas.microsoft.com/office/drawing/2014/main" val="4235287602"/>
                    </a:ext>
                  </a:extLst>
                </a:gridCol>
                <a:gridCol w="1830408">
                  <a:extLst>
                    <a:ext uri="{9D8B030D-6E8A-4147-A177-3AD203B41FA5}">
                      <a16:colId xmlns:a16="http://schemas.microsoft.com/office/drawing/2014/main" val="3475170282"/>
                    </a:ext>
                  </a:extLst>
                </a:gridCol>
              </a:tblGrid>
              <a:tr h="370840">
                <a:tc>
                  <a:txBody>
                    <a:bodyPr/>
                    <a:lstStyle/>
                    <a:p>
                      <a:r>
                        <a:rPr lang="en-US" dirty="0"/>
                        <a:t>metric</a:t>
                      </a:r>
                    </a:p>
                  </a:txBody>
                  <a:tcPr/>
                </a:tc>
                <a:tc>
                  <a:txBody>
                    <a:bodyPr/>
                    <a:lstStyle/>
                    <a:p>
                      <a:r>
                        <a:rPr lang="en-US" dirty="0"/>
                        <a:t>Traditional A*</a:t>
                      </a:r>
                    </a:p>
                  </a:txBody>
                  <a:tcPr/>
                </a:tc>
                <a:tc>
                  <a:txBody>
                    <a:bodyPr/>
                    <a:lstStyle/>
                    <a:p>
                      <a:r>
                        <a:rPr lang="en-US" dirty="0"/>
                        <a:t>Improved A*</a:t>
                      </a:r>
                    </a:p>
                  </a:txBody>
                  <a:tcPr/>
                </a:tc>
                <a:extLst>
                  <a:ext uri="{0D108BD9-81ED-4DB2-BD59-A6C34878D82A}">
                    <a16:rowId xmlns:a16="http://schemas.microsoft.com/office/drawing/2014/main" val="4146721528"/>
                  </a:ext>
                </a:extLst>
              </a:tr>
              <a:tr h="370840">
                <a:tc>
                  <a:txBody>
                    <a:bodyPr/>
                    <a:lstStyle/>
                    <a:p>
                      <a:r>
                        <a:rPr lang="en-US" dirty="0"/>
                        <a:t>Path length</a:t>
                      </a:r>
                    </a:p>
                  </a:txBody>
                  <a:tcPr/>
                </a:tc>
                <a:tc>
                  <a:txBody>
                    <a:bodyPr/>
                    <a:lstStyle/>
                    <a:p>
                      <a:pPr lvl="0">
                        <a:buNone/>
                      </a:pPr>
                      <a:r>
                        <a:rPr lang="en-US" sz="1800" b="0" i="0" u="none" strike="noStrike" baseline="0" noProof="0" dirty="0">
                          <a:solidFill>
                            <a:srgbClr val="000000"/>
                          </a:solidFill>
                          <a:latin typeface="Corbel"/>
                        </a:rPr>
                        <a:t>76.64</a:t>
                      </a:r>
                      <a:endParaRPr lang="en-US" dirty="0"/>
                    </a:p>
                  </a:txBody>
                  <a:tcPr/>
                </a:tc>
                <a:tc>
                  <a:txBody>
                    <a:bodyPr/>
                    <a:lstStyle/>
                    <a:p>
                      <a:pPr lvl="0">
                        <a:buNone/>
                      </a:pPr>
                      <a:r>
                        <a:rPr lang="en-US" sz="1800" b="0" i="0" u="none" strike="noStrike" baseline="0" noProof="0" dirty="0">
                          <a:solidFill>
                            <a:srgbClr val="000000"/>
                          </a:solidFill>
                          <a:latin typeface="Corbel"/>
                        </a:rPr>
                        <a:t>59.76</a:t>
                      </a:r>
                      <a:endParaRPr lang="en-US" dirty="0"/>
                    </a:p>
                  </a:txBody>
                  <a:tcPr/>
                </a:tc>
                <a:extLst>
                  <a:ext uri="{0D108BD9-81ED-4DB2-BD59-A6C34878D82A}">
                    <a16:rowId xmlns:a16="http://schemas.microsoft.com/office/drawing/2014/main" val="1926848089"/>
                  </a:ext>
                </a:extLst>
              </a:tr>
              <a:tr h="370840">
                <a:tc>
                  <a:txBody>
                    <a:bodyPr/>
                    <a:lstStyle/>
                    <a:p>
                      <a:r>
                        <a:rPr lang="en-US" dirty="0"/>
                        <a:t>Time taken</a:t>
                      </a:r>
                    </a:p>
                  </a:txBody>
                  <a:tcPr/>
                </a:tc>
                <a:tc>
                  <a:txBody>
                    <a:bodyPr/>
                    <a:lstStyle/>
                    <a:p>
                      <a:pPr lvl="0">
                        <a:buNone/>
                      </a:pPr>
                      <a:r>
                        <a:rPr lang="en-US" sz="1800" b="0" i="0" u="none" strike="noStrike" noProof="0" dirty="0">
                          <a:solidFill>
                            <a:srgbClr val="000000"/>
                          </a:solidFill>
                          <a:latin typeface="Corbel"/>
                        </a:rPr>
                        <a:t>0.0039</a:t>
                      </a:r>
                      <a:endParaRPr lang="en-US" dirty="0"/>
                    </a:p>
                  </a:txBody>
                  <a:tcPr/>
                </a:tc>
                <a:tc>
                  <a:txBody>
                    <a:bodyPr/>
                    <a:lstStyle/>
                    <a:p>
                      <a:pPr lvl="0">
                        <a:buNone/>
                      </a:pPr>
                      <a:r>
                        <a:rPr lang="en-US" sz="1800" b="0" i="0" u="none" strike="noStrike" baseline="0" noProof="0" dirty="0">
                          <a:solidFill>
                            <a:srgbClr val="000000"/>
                          </a:solidFill>
                          <a:latin typeface="Corbel"/>
                        </a:rPr>
                        <a:t>0.0015</a:t>
                      </a:r>
                      <a:endParaRPr lang="en-US" dirty="0"/>
                    </a:p>
                  </a:txBody>
                  <a:tcPr/>
                </a:tc>
                <a:extLst>
                  <a:ext uri="{0D108BD9-81ED-4DB2-BD59-A6C34878D82A}">
                    <a16:rowId xmlns:a16="http://schemas.microsoft.com/office/drawing/2014/main" val="3752120472"/>
                  </a:ext>
                </a:extLst>
              </a:tr>
              <a:tr h="370839">
                <a:tc>
                  <a:txBody>
                    <a:bodyPr/>
                    <a:lstStyle/>
                    <a:p>
                      <a:pPr lvl="0">
                        <a:buNone/>
                      </a:pPr>
                      <a:r>
                        <a:rPr lang="en-US" dirty="0"/>
                        <a:t>Number of turns</a:t>
                      </a:r>
                    </a:p>
                  </a:txBody>
                  <a:tcPr/>
                </a:tc>
                <a:tc>
                  <a:txBody>
                    <a:bodyPr/>
                    <a:lstStyle/>
                    <a:p>
                      <a:pPr lvl="0">
                        <a:buNone/>
                      </a:pPr>
                      <a:r>
                        <a:rPr lang="en-US" sz="1800" b="0" i="0" u="none" strike="noStrike" noProof="0" dirty="0">
                          <a:solidFill>
                            <a:srgbClr val="000000"/>
                          </a:solidFill>
                          <a:latin typeface="Corbel"/>
                        </a:rPr>
                        <a:t>32</a:t>
                      </a:r>
                      <a:endParaRPr lang="en-US" dirty="0"/>
                    </a:p>
                  </a:txBody>
                  <a:tcPr/>
                </a:tc>
                <a:tc>
                  <a:txBody>
                    <a:bodyPr/>
                    <a:lstStyle/>
                    <a:p>
                      <a:pPr lvl="0">
                        <a:buNone/>
                      </a:pPr>
                      <a:r>
                        <a:rPr lang="en-US" dirty="0"/>
                        <a:t>2</a:t>
                      </a:r>
                    </a:p>
                  </a:txBody>
                  <a:tcPr/>
                </a:tc>
                <a:extLst>
                  <a:ext uri="{0D108BD9-81ED-4DB2-BD59-A6C34878D82A}">
                    <a16:rowId xmlns:a16="http://schemas.microsoft.com/office/drawing/2014/main" val="2373840445"/>
                  </a:ext>
                </a:extLst>
              </a:tr>
            </a:tbl>
          </a:graphicData>
        </a:graphic>
      </p:graphicFrame>
      <p:pic>
        <p:nvPicPr>
          <p:cNvPr id="29" name="Picture 28" descr="A graph of a path&#10;&#10;AI-generated content may be incorrect.">
            <a:extLst>
              <a:ext uri="{FF2B5EF4-FFF2-40B4-BE49-F238E27FC236}">
                <a16:creationId xmlns:a16="http://schemas.microsoft.com/office/drawing/2014/main" id="{C3C8A6CC-0846-B576-E67B-2E544CB08775}"/>
              </a:ext>
            </a:extLst>
          </p:cNvPr>
          <p:cNvPicPr>
            <a:picLocks noChangeAspect="1"/>
          </p:cNvPicPr>
          <p:nvPr/>
        </p:nvPicPr>
        <p:blipFill>
          <a:blip r:embed="rId2"/>
          <a:stretch>
            <a:fillRect/>
          </a:stretch>
        </p:blipFill>
        <p:spPr>
          <a:xfrm>
            <a:off x="446198" y="1711657"/>
            <a:ext cx="4627714" cy="4624601"/>
          </a:xfrm>
          <a:prstGeom prst="rect">
            <a:avLst/>
          </a:prstGeom>
        </p:spPr>
      </p:pic>
      <p:sp>
        <p:nvSpPr>
          <p:cNvPr id="4" name="TextBox 3">
            <a:extLst>
              <a:ext uri="{FF2B5EF4-FFF2-40B4-BE49-F238E27FC236}">
                <a16:creationId xmlns:a16="http://schemas.microsoft.com/office/drawing/2014/main" id="{9C479545-2EF9-5496-98E5-1D3FD364B1AC}"/>
              </a:ext>
            </a:extLst>
          </p:cNvPr>
          <p:cNvSpPr txBox="1"/>
          <p:nvPr/>
        </p:nvSpPr>
        <p:spPr>
          <a:xfrm>
            <a:off x="9904412" y="6210600"/>
            <a:ext cx="2095303" cy="381000"/>
          </a:xfrm>
          <a:prstGeom prst="rect">
            <a:avLst/>
          </a:prstGeom>
          <a:noFill/>
        </p:spPr>
        <p:txBody>
          <a:bodyPr wrap="square">
            <a:spAutoFit/>
          </a:bodyPr>
          <a:lstStyle/>
          <a:p>
            <a:r>
              <a:rPr lang="en-US" dirty="0">
                <a:solidFill>
                  <a:schemeClr val="accent1"/>
                </a:solidFill>
              </a:rPr>
              <a:t>A*  vs  Improved A*</a:t>
            </a:r>
            <a:endParaRPr lang="en-IN" dirty="0">
              <a:solidFill>
                <a:schemeClr val="accent1"/>
              </a:solidFill>
            </a:endParaRPr>
          </a:p>
        </p:txBody>
      </p:sp>
    </p:spTree>
    <p:extLst>
      <p:ext uri="{BB962C8B-B14F-4D97-AF65-F5344CB8AC3E}">
        <p14:creationId xmlns:p14="http://schemas.microsoft.com/office/powerpoint/2010/main" val="730585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EB87-4C4B-B7A9-B62D-5BCB39531718}"/>
              </a:ext>
            </a:extLst>
          </p:cNvPr>
          <p:cNvSpPr>
            <a:spLocks noGrp="1"/>
          </p:cNvSpPr>
          <p:nvPr>
            <p:ph type="title"/>
          </p:nvPr>
        </p:nvSpPr>
        <p:spPr>
          <a:xfrm>
            <a:off x="1522414" y="274638"/>
            <a:ext cx="9668936" cy="1020762"/>
          </a:xfrm>
        </p:spPr>
        <p:txBody>
          <a:bodyPr/>
          <a:lstStyle/>
          <a:p>
            <a:r>
              <a:rPr lang="en-US" dirty="0"/>
              <a:t>Combining improved A* with ERM</a:t>
            </a:r>
          </a:p>
        </p:txBody>
      </p:sp>
      <p:sp>
        <p:nvSpPr>
          <p:cNvPr id="3" name="Content Placeholder 2">
            <a:extLst>
              <a:ext uri="{FF2B5EF4-FFF2-40B4-BE49-F238E27FC236}">
                <a16:creationId xmlns:a16="http://schemas.microsoft.com/office/drawing/2014/main" id="{0066DDF6-3B46-3254-9227-AEFDB4D64970}"/>
              </a:ext>
            </a:extLst>
          </p:cNvPr>
          <p:cNvSpPr>
            <a:spLocks noGrp="1"/>
          </p:cNvSpPr>
          <p:nvPr>
            <p:ph idx="1"/>
          </p:nvPr>
        </p:nvSpPr>
        <p:spPr>
          <a:xfrm>
            <a:off x="154055" y="1629509"/>
            <a:ext cx="11894512" cy="3317416"/>
          </a:xfrm>
        </p:spPr>
        <p:txBody>
          <a:bodyPr vert="horz" lIns="91440" tIns="45720" rIns="91440" bIns="45720" rtlCol="0" anchor="t">
            <a:normAutofit/>
          </a:bodyPr>
          <a:lstStyle/>
          <a:p>
            <a:pPr marL="0" indent="0">
              <a:buNone/>
            </a:pPr>
            <a:r>
              <a:rPr lang="en-US" b="1" dirty="0">
                <a:ea typeface="+mn-lt"/>
                <a:cs typeface="+mn-lt"/>
              </a:rPr>
              <a:t>Define Energy Costs for Movements-</a:t>
            </a:r>
          </a:p>
          <a:p>
            <a:r>
              <a:rPr lang="en-US" sz="1700" dirty="0">
                <a:ea typeface="+mn-lt"/>
                <a:cs typeface="+mn-lt"/>
              </a:rPr>
              <a:t>Instead of using distance-based weights, we assign energy consumption values from the dataset to different AGV actions.</a:t>
            </a:r>
            <a:endParaRPr lang="en-US" sz="1700" dirty="0"/>
          </a:p>
          <a:p>
            <a:pPr marL="0" indent="0">
              <a:buNone/>
            </a:pPr>
            <a:r>
              <a:rPr lang="en-US" sz="1700" dirty="0">
                <a:ea typeface="+mn-lt"/>
                <a:cs typeface="+mn-lt"/>
              </a:rPr>
              <a:t>Moving </a:t>
            </a:r>
            <a:r>
              <a:rPr lang="en-US" sz="1700" b="1" dirty="0">
                <a:ea typeface="+mn-lt"/>
                <a:cs typeface="+mn-lt"/>
              </a:rPr>
              <a:t>straight</a:t>
            </a:r>
            <a:r>
              <a:rPr lang="en-US" sz="1700" dirty="0">
                <a:ea typeface="+mn-lt"/>
                <a:cs typeface="+mn-lt"/>
              </a:rPr>
              <a:t> →  </a:t>
            </a:r>
            <a:r>
              <a:rPr lang="en-US" sz="1700" dirty="0">
                <a:latin typeface="Consolas"/>
              </a:rPr>
              <a:t>Energy demand drives</a:t>
            </a:r>
            <a:endParaRPr lang="en-US" sz="1700" dirty="0">
              <a:latin typeface="Corbel"/>
            </a:endParaRPr>
          </a:p>
          <a:p>
            <a:pPr marL="0" indent="0">
              <a:buNone/>
            </a:pPr>
            <a:r>
              <a:rPr lang="en-US" sz="1700" b="1" dirty="0">
                <a:latin typeface="Corbel"/>
              </a:rPr>
              <a:t>Turning</a:t>
            </a:r>
            <a:r>
              <a:rPr lang="en-US" sz="1700" dirty="0">
                <a:ea typeface="+mn-lt"/>
                <a:cs typeface="+mn-lt"/>
              </a:rPr>
              <a:t> → </a:t>
            </a:r>
            <a:r>
              <a:rPr lang="en-US" sz="1700" dirty="0">
                <a:latin typeface="Consolas"/>
              </a:rPr>
              <a:t>Energy demand control</a:t>
            </a:r>
            <a:endParaRPr lang="en-US" sz="1700" dirty="0"/>
          </a:p>
          <a:p>
            <a:pPr marL="0" indent="0">
              <a:buNone/>
            </a:pPr>
            <a:r>
              <a:rPr lang="en-US" sz="1700" b="1" dirty="0">
                <a:ea typeface="+mn-lt"/>
                <a:cs typeface="+mn-lt"/>
              </a:rPr>
              <a:t>Waiting/standby</a:t>
            </a:r>
            <a:r>
              <a:rPr lang="en-US" sz="1700" dirty="0">
                <a:ea typeface="+mn-lt"/>
                <a:cs typeface="+mn-lt"/>
              </a:rPr>
              <a:t> →</a:t>
            </a:r>
            <a:r>
              <a:rPr lang="en-US" sz="1700" dirty="0">
                <a:latin typeface="Consolas"/>
              </a:rPr>
              <a:t>T standby</a:t>
            </a:r>
            <a:r>
              <a:rPr lang="en-US" sz="1700" dirty="0">
                <a:ea typeface="+mn-lt"/>
                <a:cs typeface="+mn-lt"/>
              </a:rPr>
              <a:t> data</a:t>
            </a:r>
            <a:endParaRPr lang="en-US" sz="1700" dirty="0"/>
          </a:p>
        </p:txBody>
      </p:sp>
      <p:pic>
        <p:nvPicPr>
          <p:cNvPr id="6" name="Picture 5" descr="A screenshot of a spreadsheet&#10;&#10;AI-generated content may be incorrect.">
            <a:extLst>
              <a:ext uri="{FF2B5EF4-FFF2-40B4-BE49-F238E27FC236}">
                <a16:creationId xmlns:a16="http://schemas.microsoft.com/office/drawing/2014/main" id="{A28747E0-3FF8-5FEE-8DE6-5782476EB441}"/>
              </a:ext>
            </a:extLst>
          </p:cNvPr>
          <p:cNvPicPr>
            <a:picLocks noChangeAspect="1"/>
          </p:cNvPicPr>
          <p:nvPr/>
        </p:nvPicPr>
        <p:blipFill>
          <a:blip r:embed="rId2"/>
          <a:stretch>
            <a:fillRect/>
          </a:stretch>
        </p:blipFill>
        <p:spPr>
          <a:xfrm>
            <a:off x="5180012" y="2600983"/>
            <a:ext cx="6324600" cy="1656034"/>
          </a:xfrm>
          <a:prstGeom prst="rect">
            <a:avLst/>
          </a:prstGeom>
        </p:spPr>
      </p:pic>
      <p:sp>
        <p:nvSpPr>
          <p:cNvPr id="11" name="TextBox 10">
            <a:extLst>
              <a:ext uri="{FF2B5EF4-FFF2-40B4-BE49-F238E27FC236}">
                <a16:creationId xmlns:a16="http://schemas.microsoft.com/office/drawing/2014/main" id="{F2499940-DCC5-D136-DB00-6F1E1DBD8317}"/>
              </a:ext>
            </a:extLst>
          </p:cNvPr>
          <p:cNvSpPr txBox="1"/>
          <p:nvPr/>
        </p:nvSpPr>
        <p:spPr>
          <a:xfrm>
            <a:off x="140258" y="4406887"/>
            <a:ext cx="5409939"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2400" b="1" dirty="0"/>
              <a:t>Modifying  the cost function</a:t>
            </a:r>
            <a:r>
              <a:rPr lang="en-US" sz="2400" dirty="0"/>
              <a:t> in A*-</a:t>
            </a:r>
          </a:p>
        </p:txBody>
      </p:sp>
      <p:sp>
        <p:nvSpPr>
          <p:cNvPr id="5" name="TextBox 4">
            <a:extLst>
              <a:ext uri="{FF2B5EF4-FFF2-40B4-BE49-F238E27FC236}">
                <a16:creationId xmlns:a16="http://schemas.microsoft.com/office/drawing/2014/main" id="{0E9467AF-1289-8856-C2E1-91BB63385CDE}"/>
              </a:ext>
            </a:extLst>
          </p:cNvPr>
          <p:cNvSpPr txBox="1"/>
          <p:nvPr/>
        </p:nvSpPr>
        <p:spPr>
          <a:xfrm>
            <a:off x="7237412" y="4946925"/>
            <a:ext cx="5265599" cy="1569660"/>
          </a:xfrm>
          <a:prstGeom prst="rect">
            <a:avLst/>
          </a:prstGeom>
          <a:noFill/>
        </p:spPr>
        <p:txBody>
          <a:bodyPr wrap="square">
            <a:spAutoFit/>
          </a:bodyPr>
          <a:lstStyle/>
          <a:p>
            <a:pPr>
              <a:buFont typeface="Arial"/>
              <a:buChar char="•"/>
            </a:pPr>
            <a:r>
              <a:rPr lang="en-US" sz="1600" b="1" dirty="0">
                <a:ea typeface="+mn-lt"/>
                <a:cs typeface="+mn-lt"/>
              </a:rPr>
              <a:t>Turning cost</a:t>
            </a:r>
            <a:r>
              <a:rPr lang="en-US" sz="1600" dirty="0">
                <a:ea typeface="+mn-lt"/>
                <a:cs typeface="+mn-lt"/>
              </a:rPr>
              <a:t> - higher energy for changing direction</a:t>
            </a:r>
            <a:endParaRPr lang="en-US" sz="1600" dirty="0"/>
          </a:p>
          <a:p>
            <a:pPr>
              <a:buFont typeface="Arial"/>
              <a:buChar char="•"/>
            </a:pPr>
            <a:r>
              <a:rPr lang="en-US" sz="1600" b="1" dirty="0">
                <a:ea typeface="+mn-lt"/>
                <a:cs typeface="+mn-lt"/>
              </a:rPr>
              <a:t>Acceleration penalties</a:t>
            </a:r>
            <a:r>
              <a:rPr lang="en-US" sz="1600" dirty="0">
                <a:ea typeface="+mn-lt"/>
                <a:cs typeface="+mn-lt"/>
              </a:rPr>
              <a:t> </a:t>
            </a:r>
            <a:endParaRPr lang="en-US" sz="1600" dirty="0"/>
          </a:p>
          <a:p>
            <a:pPr>
              <a:buFont typeface="Arial"/>
              <a:buChar char="•"/>
            </a:pPr>
            <a:r>
              <a:rPr lang="en-US" sz="1600" b="1" dirty="0">
                <a:ea typeface="+mn-lt"/>
                <a:cs typeface="+mn-lt"/>
              </a:rPr>
              <a:t>Standby energy cost-  </a:t>
            </a:r>
            <a:r>
              <a:rPr lang="en-US" sz="1600" dirty="0">
                <a:ea typeface="+mn-lt"/>
                <a:cs typeface="+mn-lt"/>
              </a:rPr>
              <a:t>if AGV needs to wait</a:t>
            </a:r>
            <a:endParaRPr lang="en-US" sz="1600" dirty="0"/>
          </a:p>
          <a:p>
            <a:pPr>
              <a:buFont typeface="Arial"/>
              <a:buChar char="•"/>
            </a:pPr>
            <a:r>
              <a:rPr lang="en-US" sz="1600" b="1" dirty="0">
                <a:ea typeface="+mn-lt"/>
                <a:cs typeface="+mn-lt"/>
              </a:rPr>
              <a:t>Turning cost</a:t>
            </a:r>
            <a:r>
              <a:rPr lang="en-US" sz="1600" dirty="0">
                <a:ea typeface="+mn-lt"/>
                <a:cs typeface="+mn-lt"/>
              </a:rPr>
              <a:t> - higher energy for changing direction</a:t>
            </a:r>
            <a:endParaRPr lang="en-US" sz="1600" dirty="0"/>
          </a:p>
          <a:p>
            <a:pPr>
              <a:buFont typeface="Arial"/>
              <a:buChar char="•"/>
            </a:pPr>
            <a:r>
              <a:rPr lang="en-US" sz="1600" b="1" dirty="0">
                <a:ea typeface="+mn-lt"/>
                <a:cs typeface="+mn-lt"/>
              </a:rPr>
              <a:t>Acceleration penalties</a:t>
            </a:r>
            <a:r>
              <a:rPr lang="en-US" sz="1600" dirty="0">
                <a:ea typeface="+mn-lt"/>
                <a:cs typeface="+mn-lt"/>
              </a:rPr>
              <a:t> </a:t>
            </a:r>
            <a:endParaRPr lang="en-US" sz="1600" dirty="0"/>
          </a:p>
          <a:p>
            <a:pPr>
              <a:buFont typeface="Arial"/>
              <a:buChar char="•"/>
            </a:pPr>
            <a:r>
              <a:rPr lang="en-US" sz="1600" b="1" dirty="0">
                <a:ea typeface="+mn-lt"/>
                <a:cs typeface="+mn-lt"/>
              </a:rPr>
              <a:t>Standby energy cost-  </a:t>
            </a:r>
            <a:r>
              <a:rPr lang="en-US" sz="1600" dirty="0">
                <a:ea typeface="+mn-lt"/>
                <a:cs typeface="+mn-lt"/>
              </a:rPr>
              <a:t>if AGV needs to wait</a:t>
            </a:r>
            <a:endParaRPr lang="en-US" sz="1600" dirty="0"/>
          </a:p>
        </p:txBody>
      </p:sp>
      <p:sp>
        <p:nvSpPr>
          <p:cNvPr id="8" name="TextBox 7">
            <a:extLst>
              <a:ext uri="{FF2B5EF4-FFF2-40B4-BE49-F238E27FC236}">
                <a16:creationId xmlns:a16="http://schemas.microsoft.com/office/drawing/2014/main" id="{B3844929-6604-9517-4755-15D9533E62D2}"/>
              </a:ext>
            </a:extLst>
          </p:cNvPr>
          <p:cNvSpPr txBox="1"/>
          <p:nvPr/>
        </p:nvSpPr>
        <p:spPr>
          <a:xfrm>
            <a:off x="379412" y="4900758"/>
            <a:ext cx="6253316" cy="1615827"/>
          </a:xfrm>
          <a:prstGeom prst="rect">
            <a:avLst/>
          </a:prstGeom>
          <a:noFill/>
        </p:spPr>
        <p:txBody>
          <a:bodyPr wrap="square">
            <a:spAutoFit/>
          </a:bodyPr>
          <a:lstStyle/>
          <a:p>
            <a:pPr>
              <a:lnSpc>
                <a:spcPct val="90000"/>
              </a:lnSpc>
              <a:buFont typeface=""/>
              <a:buChar char="•"/>
            </a:pPr>
            <a:r>
              <a:rPr lang="en-US" sz="1800" dirty="0"/>
              <a:t>Instead of distance, use energy consumption.</a:t>
            </a:r>
          </a:p>
          <a:p>
            <a:pPr>
              <a:lnSpc>
                <a:spcPct val="90000"/>
              </a:lnSpc>
              <a:buFont typeface=""/>
              <a:buChar char="•"/>
            </a:pPr>
            <a:r>
              <a:rPr lang="en-US" sz="1800" dirty="0"/>
              <a:t>Penalize high-speed acceleration to reduce Energy demand drives.</a:t>
            </a:r>
          </a:p>
          <a:p>
            <a:pPr>
              <a:lnSpc>
                <a:spcPct val="90000"/>
              </a:lnSpc>
              <a:buFont typeface=""/>
              <a:buChar char="•"/>
            </a:pPr>
            <a:r>
              <a:rPr lang="en-US" sz="1800" dirty="0"/>
              <a:t>Prefer paths with lower control energy costs (Energy demand control).</a:t>
            </a:r>
          </a:p>
          <a:p>
            <a:pPr>
              <a:buFont typeface="Arial"/>
              <a:buChar char="•"/>
            </a:pPr>
            <a:r>
              <a:rPr lang="en-US" sz="1800" b="1" dirty="0">
                <a:ea typeface="+mn-lt"/>
                <a:cs typeface="+mn-lt"/>
              </a:rPr>
              <a:t>Straight movement cost</a:t>
            </a:r>
            <a:r>
              <a:rPr lang="en-US" sz="1800" dirty="0">
                <a:ea typeface="+mn-lt"/>
                <a:cs typeface="+mn-lt"/>
              </a:rPr>
              <a:t> - default energy per step</a:t>
            </a:r>
            <a:endParaRPr lang="en-US" sz="1800" dirty="0"/>
          </a:p>
        </p:txBody>
      </p:sp>
    </p:spTree>
    <p:extLst>
      <p:ext uri="{BB962C8B-B14F-4D97-AF65-F5344CB8AC3E}">
        <p14:creationId xmlns:p14="http://schemas.microsoft.com/office/powerpoint/2010/main" val="873472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7DB0E4-20F7-16C1-C674-17FADE16E230}"/>
              </a:ext>
            </a:extLst>
          </p:cNvPr>
          <p:cNvSpPr>
            <a:spLocks noGrp="1"/>
          </p:cNvSpPr>
          <p:nvPr>
            <p:ph idx="1"/>
          </p:nvPr>
        </p:nvSpPr>
        <p:spPr>
          <a:xfrm>
            <a:off x="293758" y="1709456"/>
            <a:ext cx="9144000" cy="4267200"/>
          </a:xfrm>
        </p:spPr>
        <p:txBody>
          <a:bodyPr vert="horz" lIns="91440" tIns="45720" rIns="91440" bIns="45720" rtlCol="0" anchor="t">
            <a:normAutofit/>
          </a:bodyPr>
          <a:lstStyle/>
          <a:p>
            <a:pPr marL="0" indent="0">
              <a:buNone/>
            </a:pPr>
            <a:r>
              <a:rPr lang="en-US" dirty="0">
                <a:ea typeface="+mn-lt"/>
                <a:cs typeface="+mn-lt"/>
              </a:rPr>
              <a:t>Standard A* Cost Function:</a:t>
            </a:r>
            <a:endParaRPr lang="en-US" dirty="0"/>
          </a:p>
        </p:txBody>
      </p:sp>
      <p:sp>
        <p:nvSpPr>
          <p:cNvPr id="5" name="Title 1">
            <a:extLst>
              <a:ext uri="{FF2B5EF4-FFF2-40B4-BE49-F238E27FC236}">
                <a16:creationId xmlns:a16="http://schemas.microsoft.com/office/drawing/2014/main" id="{276DC222-B752-9960-21E8-063566D7E2B1}"/>
              </a:ext>
            </a:extLst>
          </p:cNvPr>
          <p:cNvSpPr>
            <a:spLocks noGrp="1"/>
          </p:cNvSpPr>
          <p:nvPr>
            <p:ph type="title"/>
          </p:nvPr>
        </p:nvSpPr>
        <p:spPr>
          <a:xfrm>
            <a:off x="1522414" y="274638"/>
            <a:ext cx="9668936" cy="1020762"/>
          </a:xfrm>
        </p:spPr>
        <p:txBody>
          <a:bodyPr/>
          <a:lstStyle/>
          <a:p>
            <a:r>
              <a:rPr lang="en-US" dirty="0"/>
              <a:t>Combining improved A* with ERM</a:t>
            </a:r>
          </a:p>
        </p:txBody>
      </p:sp>
      <p:pic>
        <p:nvPicPr>
          <p:cNvPr id="6" name="Picture 5" descr="A math equation with a white background&#10;&#10;AI-generated content may be incorrect.">
            <a:extLst>
              <a:ext uri="{FF2B5EF4-FFF2-40B4-BE49-F238E27FC236}">
                <a16:creationId xmlns:a16="http://schemas.microsoft.com/office/drawing/2014/main" id="{AE81A454-AE7A-F277-44B4-BB3B0791FD02}"/>
              </a:ext>
            </a:extLst>
          </p:cNvPr>
          <p:cNvPicPr>
            <a:picLocks noChangeAspect="1"/>
          </p:cNvPicPr>
          <p:nvPr/>
        </p:nvPicPr>
        <p:blipFill>
          <a:blip r:embed="rId2"/>
          <a:stretch>
            <a:fillRect/>
          </a:stretch>
        </p:blipFill>
        <p:spPr>
          <a:xfrm>
            <a:off x="7229070" y="1795549"/>
            <a:ext cx="2488066" cy="765123"/>
          </a:xfrm>
          <a:prstGeom prst="rect">
            <a:avLst/>
          </a:prstGeom>
        </p:spPr>
      </p:pic>
      <p:sp>
        <p:nvSpPr>
          <p:cNvPr id="7" name="TextBox 6">
            <a:extLst>
              <a:ext uri="{FF2B5EF4-FFF2-40B4-BE49-F238E27FC236}">
                <a16:creationId xmlns:a16="http://schemas.microsoft.com/office/drawing/2014/main" id="{309413B3-DF88-6F2D-5534-62EAADBF7A35}"/>
              </a:ext>
            </a:extLst>
          </p:cNvPr>
          <p:cNvSpPr txBox="1"/>
          <p:nvPr/>
        </p:nvSpPr>
        <p:spPr>
          <a:xfrm>
            <a:off x="296858" y="2155540"/>
            <a:ext cx="6094078" cy="590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dirty="0"/>
              <a:t>g(n) = actual cost from start to node n</a:t>
            </a:r>
          </a:p>
          <a:p>
            <a:pPr>
              <a:lnSpc>
                <a:spcPct val="90000"/>
              </a:lnSpc>
            </a:pPr>
            <a:r>
              <a:rPr lang="en-US" dirty="0"/>
              <a:t>h(n) = heuristic estimated cost from n to the goal.</a:t>
            </a:r>
          </a:p>
        </p:txBody>
      </p:sp>
      <p:sp>
        <p:nvSpPr>
          <p:cNvPr id="8" name="TextBox 7">
            <a:extLst>
              <a:ext uri="{FF2B5EF4-FFF2-40B4-BE49-F238E27FC236}">
                <a16:creationId xmlns:a16="http://schemas.microsoft.com/office/drawing/2014/main" id="{98C76436-77F8-0BDF-BA0B-3ECD21FA4204}"/>
              </a:ext>
            </a:extLst>
          </p:cNvPr>
          <p:cNvSpPr txBox="1"/>
          <p:nvPr/>
        </p:nvSpPr>
        <p:spPr>
          <a:xfrm>
            <a:off x="296858" y="3214367"/>
            <a:ext cx="6094078"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2400" dirty="0"/>
              <a:t>Energy-Based Cost Function (Modified g(n)):</a:t>
            </a:r>
          </a:p>
        </p:txBody>
      </p:sp>
      <p:pic>
        <p:nvPicPr>
          <p:cNvPr id="9" name="Picture 8" descr="A mathematical equation with numbers and symbols&#10;&#10;AI-generated content may be incorrect.">
            <a:extLst>
              <a:ext uri="{FF2B5EF4-FFF2-40B4-BE49-F238E27FC236}">
                <a16:creationId xmlns:a16="http://schemas.microsoft.com/office/drawing/2014/main" id="{8C74E814-7023-F7EB-DCF0-F26CC410FA1C}"/>
              </a:ext>
            </a:extLst>
          </p:cNvPr>
          <p:cNvPicPr>
            <a:picLocks noChangeAspect="1"/>
          </p:cNvPicPr>
          <p:nvPr/>
        </p:nvPicPr>
        <p:blipFill>
          <a:blip r:embed="rId3"/>
          <a:stretch>
            <a:fillRect/>
          </a:stretch>
        </p:blipFill>
        <p:spPr>
          <a:xfrm>
            <a:off x="7506165" y="3416056"/>
            <a:ext cx="1942909" cy="633093"/>
          </a:xfrm>
          <a:prstGeom prst="rect">
            <a:avLst/>
          </a:prstGeom>
        </p:spPr>
      </p:pic>
      <p:sp>
        <p:nvSpPr>
          <p:cNvPr id="10" name="TextBox 9">
            <a:extLst>
              <a:ext uri="{FF2B5EF4-FFF2-40B4-BE49-F238E27FC236}">
                <a16:creationId xmlns:a16="http://schemas.microsoft.com/office/drawing/2014/main" id="{D1B63079-7B3A-444C-FD35-F1F8E5639097}"/>
              </a:ext>
            </a:extLst>
          </p:cNvPr>
          <p:cNvSpPr txBox="1"/>
          <p:nvPr/>
        </p:nvSpPr>
        <p:spPr>
          <a:xfrm>
            <a:off x="293758" y="3645447"/>
            <a:ext cx="8062720" cy="35825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dirty="0" err="1"/>
              <a:t>E</a:t>
            </a:r>
            <a:r>
              <a:rPr lang="en-US" baseline="-25000" dirty="0" err="1"/>
              <a:t>state,i</a:t>
            </a:r>
            <a:r>
              <a:rPr lang="en-US" dirty="0"/>
              <a:t>​  =  energy cost in each state (acceleration, turning, standby)</a:t>
            </a:r>
          </a:p>
          <a:p>
            <a:pPr>
              <a:lnSpc>
                <a:spcPct val="90000"/>
              </a:lnSpc>
            </a:pPr>
            <a:r>
              <a:rPr lang="en-US" dirty="0"/>
              <a:t>K =  the number of steps taken so far</a:t>
            </a:r>
          </a:p>
          <a:p>
            <a:pPr>
              <a:lnSpc>
                <a:spcPct val="90000"/>
              </a:lnSpc>
              <a:buFont typeface=""/>
              <a:buChar char="•"/>
            </a:pPr>
            <a:endParaRPr lang="en-US" dirty="0"/>
          </a:p>
          <a:p>
            <a:pPr>
              <a:lnSpc>
                <a:spcPct val="90000"/>
              </a:lnSpc>
            </a:pPr>
            <a:endParaRPr lang="en-US" dirty="0"/>
          </a:p>
          <a:p>
            <a:pPr>
              <a:lnSpc>
                <a:spcPct val="90000"/>
              </a:lnSpc>
            </a:pPr>
            <a:r>
              <a:rPr lang="en-US" dirty="0"/>
              <a:t>Using the ERM equation from paper : </a:t>
            </a:r>
          </a:p>
          <a:p>
            <a:pPr>
              <a:lnSpc>
                <a:spcPct val="90000"/>
              </a:lnSpc>
            </a:pPr>
            <a:endParaRPr lang="en-US" dirty="0"/>
          </a:p>
          <a:p>
            <a:pPr>
              <a:lnSpc>
                <a:spcPct val="90000"/>
              </a:lnSpc>
            </a:pPr>
            <a:r>
              <a:rPr lang="en-US" dirty="0"/>
              <a:t>Driving energy : </a:t>
            </a:r>
            <a:r>
              <a:rPr lang="en-US" dirty="0" err="1">
                <a:ea typeface="+mn-lt"/>
                <a:cs typeface="+mn-lt"/>
              </a:rPr>
              <a:t>P</a:t>
            </a:r>
            <a:r>
              <a:rPr lang="en-US" baseline="-25000" dirty="0" err="1">
                <a:ea typeface="+mn-lt"/>
                <a:cs typeface="+mn-lt"/>
              </a:rPr>
              <a:t>drive</a:t>
            </a:r>
            <a:r>
              <a:rPr lang="en-US" dirty="0">
                <a:ea typeface="+mn-lt"/>
                <a:cs typeface="+mn-lt"/>
              </a:rPr>
              <a:t>  =  power consumption of the AGV's motors.</a:t>
            </a:r>
          </a:p>
          <a:p>
            <a:pPr>
              <a:lnSpc>
                <a:spcPct val="90000"/>
              </a:lnSpc>
            </a:pPr>
            <a:endParaRPr lang="en-US" dirty="0"/>
          </a:p>
          <a:p>
            <a:pPr>
              <a:lnSpc>
                <a:spcPct val="90000"/>
              </a:lnSpc>
            </a:pPr>
            <a:r>
              <a:rPr lang="en-US" dirty="0"/>
              <a:t>Control system energy : </a:t>
            </a:r>
            <a:r>
              <a:rPr lang="en-US" dirty="0" err="1">
                <a:ea typeface="+mn-lt"/>
                <a:cs typeface="+mn-lt"/>
              </a:rPr>
              <a:t>P</a:t>
            </a:r>
            <a:r>
              <a:rPr lang="en-US" baseline="-25000" dirty="0" err="1">
                <a:ea typeface="+mn-lt"/>
                <a:cs typeface="+mn-lt"/>
              </a:rPr>
              <a:t>control</a:t>
            </a:r>
            <a:r>
              <a:rPr lang="en-US" dirty="0">
                <a:ea typeface="+mn-lt"/>
                <a:cs typeface="+mn-lt"/>
              </a:rPr>
              <a:t>  = control power usage.</a:t>
            </a:r>
          </a:p>
          <a:p>
            <a:pPr>
              <a:lnSpc>
                <a:spcPct val="90000"/>
              </a:lnSpc>
            </a:pPr>
            <a:endParaRPr lang="en-US" dirty="0"/>
          </a:p>
          <a:p>
            <a:pPr>
              <a:lnSpc>
                <a:spcPct val="90000"/>
              </a:lnSpc>
            </a:pPr>
            <a:r>
              <a:rPr lang="en-US" dirty="0"/>
              <a:t>Load-handling energy : </a:t>
            </a:r>
            <a:r>
              <a:rPr lang="en-US" dirty="0" err="1">
                <a:ea typeface="+mn-lt"/>
                <a:cs typeface="+mn-lt"/>
              </a:rPr>
              <a:t>P</a:t>
            </a:r>
            <a:r>
              <a:rPr lang="en-US" baseline="-25000" dirty="0" err="1">
                <a:ea typeface="+mn-lt"/>
                <a:cs typeface="+mn-lt"/>
              </a:rPr>
              <a:t>load</a:t>
            </a:r>
            <a:r>
              <a:rPr lang="en-US" dirty="0">
                <a:ea typeface="+mn-lt"/>
                <a:cs typeface="+mn-lt"/>
              </a:rPr>
              <a:t> = power consumption for material handling.</a:t>
            </a:r>
            <a:endParaRPr lang="en-US" dirty="0"/>
          </a:p>
          <a:p>
            <a:pPr>
              <a:lnSpc>
                <a:spcPct val="90000"/>
              </a:lnSpc>
            </a:pPr>
            <a:endParaRPr lang="en-US" dirty="0"/>
          </a:p>
          <a:p>
            <a:pPr>
              <a:lnSpc>
                <a:spcPct val="90000"/>
              </a:lnSpc>
            </a:pPr>
            <a:endParaRPr lang="en-US" dirty="0"/>
          </a:p>
          <a:p>
            <a:pPr>
              <a:lnSpc>
                <a:spcPct val="90000"/>
              </a:lnSpc>
            </a:pPr>
            <a:endParaRPr lang="en-US" dirty="0"/>
          </a:p>
        </p:txBody>
      </p:sp>
      <p:pic>
        <p:nvPicPr>
          <p:cNvPr id="11" name="Picture 10">
            <a:extLst>
              <a:ext uri="{FF2B5EF4-FFF2-40B4-BE49-F238E27FC236}">
                <a16:creationId xmlns:a16="http://schemas.microsoft.com/office/drawing/2014/main" id="{60691C4E-DD51-E54A-108E-609A58C2B1BF}"/>
              </a:ext>
            </a:extLst>
          </p:cNvPr>
          <p:cNvPicPr>
            <a:picLocks noChangeAspect="1"/>
          </p:cNvPicPr>
          <p:nvPr/>
        </p:nvPicPr>
        <p:blipFill>
          <a:blip r:embed="rId4"/>
          <a:stretch>
            <a:fillRect/>
          </a:stretch>
        </p:blipFill>
        <p:spPr>
          <a:xfrm>
            <a:off x="6855497" y="4421046"/>
            <a:ext cx="3235208" cy="526396"/>
          </a:xfrm>
          <a:prstGeom prst="rect">
            <a:avLst/>
          </a:prstGeom>
        </p:spPr>
      </p:pic>
      <p:pic>
        <p:nvPicPr>
          <p:cNvPr id="12" name="Picture 11">
            <a:extLst>
              <a:ext uri="{FF2B5EF4-FFF2-40B4-BE49-F238E27FC236}">
                <a16:creationId xmlns:a16="http://schemas.microsoft.com/office/drawing/2014/main" id="{3B442B0D-1846-A5E8-FC9D-E32E0589F168}"/>
              </a:ext>
            </a:extLst>
          </p:cNvPr>
          <p:cNvPicPr>
            <a:picLocks noChangeAspect="1"/>
          </p:cNvPicPr>
          <p:nvPr/>
        </p:nvPicPr>
        <p:blipFill>
          <a:blip r:embed="rId5"/>
          <a:stretch>
            <a:fillRect/>
          </a:stretch>
        </p:blipFill>
        <p:spPr>
          <a:xfrm>
            <a:off x="7705058" y="5062137"/>
            <a:ext cx="1536089" cy="394967"/>
          </a:xfrm>
          <a:prstGeom prst="rect">
            <a:avLst/>
          </a:prstGeom>
        </p:spPr>
      </p:pic>
      <p:pic>
        <p:nvPicPr>
          <p:cNvPr id="13" name="Picture 12">
            <a:extLst>
              <a:ext uri="{FF2B5EF4-FFF2-40B4-BE49-F238E27FC236}">
                <a16:creationId xmlns:a16="http://schemas.microsoft.com/office/drawing/2014/main" id="{83077407-3889-FBB2-C906-4CAF7F73D9B9}"/>
              </a:ext>
            </a:extLst>
          </p:cNvPr>
          <p:cNvPicPr>
            <a:picLocks noChangeAspect="1"/>
          </p:cNvPicPr>
          <p:nvPr/>
        </p:nvPicPr>
        <p:blipFill>
          <a:blip r:embed="rId6"/>
          <a:stretch>
            <a:fillRect/>
          </a:stretch>
        </p:blipFill>
        <p:spPr>
          <a:xfrm>
            <a:off x="7639987" y="5642240"/>
            <a:ext cx="1666229" cy="342900"/>
          </a:xfrm>
          <a:prstGeom prst="rect">
            <a:avLst/>
          </a:prstGeom>
        </p:spPr>
      </p:pic>
      <p:pic>
        <p:nvPicPr>
          <p:cNvPr id="14" name="Picture 13">
            <a:extLst>
              <a:ext uri="{FF2B5EF4-FFF2-40B4-BE49-F238E27FC236}">
                <a16:creationId xmlns:a16="http://schemas.microsoft.com/office/drawing/2014/main" id="{8218CC80-8D6B-6DC8-DB47-BDA422B40B43}"/>
              </a:ext>
            </a:extLst>
          </p:cNvPr>
          <p:cNvPicPr>
            <a:picLocks noChangeAspect="1"/>
          </p:cNvPicPr>
          <p:nvPr/>
        </p:nvPicPr>
        <p:blipFill>
          <a:blip r:embed="rId7"/>
          <a:stretch>
            <a:fillRect/>
          </a:stretch>
        </p:blipFill>
        <p:spPr>
          <a:xfrm>
            <a:off x="7705058" y="6112294"/>
            <a:ext cx="1542452" cy="323850"/>
          </a:xfrm>
          <a:prstGeom prst="rect">
            <a:avLst/>
          </a:prstGeom>
        </p:spPr>
      </p:pic>
    </p:spTree>
    <p:extLst>
      <p:ext uri="{BB962C8B-B14F-4D97-AF65-F5344CB8AC3E}">
        <p14:creationId xmlns:p14="http://schemas.microsoft.com/office/powerpoint/2010/main" val="302711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3ECCE-012D-EC31-B7CE-5ABA8F768CC4}"/>
              </a:ext>
            </a:extLst>
          </p:cNvPr>
          <p:cNvSpPr>
            <a:spLocks noGrp="1"/>
          </p:cNvSpPr>
          <p:nvPr>
            <p:ph idx="1"/>
          </p:nvPr>
        </p:nvSpPr>
        <p:spPr>
          <a:xfrm>
            <a:off x="293758" y="1709456"/>
            <a:ext cx="5639538" cy="579803"/>
          </a:xfrm>
        </p:spPr>
        <p:txBody>
          <a:bodyPr vert="horz" lIns="91440" tIns="45720" rIns="91440" bIns="45720" rtlCol="0" anchor="t">
            <a:normAutofit/>
          </a:bodyPr>
          <a:lstStyle/>
          <a:p>
            <a:pPr marL="0" indent="0">
              <a:buNone/>
            </a:pPr>
            <a:r>
              <a:rPr lang="en-US" dirty="0">
                <a:ea typeface="+mn-lt"/>
                <a:cs typeface="+mn-lt"/>
              </a:rPr>
              <a:t>Energy-Aware Heuristic h(n)-</a:t>
            </a:r>
            <a:endParaRPr lang="en-US" dirty="0"/>
          </a:p>
        </p:txBody>
      </p:sp>
      <p:sp>
        <p:nvSpPr>
          <p:cNvPr id="7" name="Title 1">
            <a:extLst>
              <a:ext uri="{FF2B5EF4-FFF2-40B4-BE49-F238E27FC236}">
                <a16:creationId xmlns:a16="http://schemas.microsoft.com/office/drawing/2014/main" id="{AA474914-AB4A-5493-D39D-957869BDAF1D}"/>
              </a:ext>
            </a:extLst>
          </p:cNvPr>
          <p:cNvSpPr>
            <a:spLocks noGrp="1"/>
          </p:cNvSpPr>
          <p:nvPr>
            <p:ph type="title"/>
          </p:nvPr>
        </p:nvSpPr>
        <p:spPr>
          <a:xfrm>
            <a:off x="1522414" y="274638"/>
            <a:ext cx="9668936" cy="1020762"/>
          </a:xfrm>
        </p:spPr>
        <p:txBody>
          <a:bodyPr/>
          <a:lstStyle/>
          <a:p>
            <a:r>
              <a:rPr lang="en-US" dirty="0"/>
              <a:t>Combining improved A* with ERM</a:t>
            </a:r>
          </a:p>
        </p:txBody>
      </p:sp>
      <p:pic>
        <p:nvPicPr>
          <p:cNvPr id="8" name="Picture 7">
            <a:extLst>
              <a:ext uri="{FF2B5EF4-FFF2-40B4-BE49-F238E27FC236}">
                <a16:creationId xmlns:a16="http://schemas.microsoft.com/office/drawing/2014/main" id="{03B3906B-5D7D-951B-5953-337DE9FEE716}"/>
              </a:ext>
            </a:extLst>
          </p:cNvPr>
          <p:cNvPicPr>
            <a:picLocks noChangeAspect="1"/>
          </p:cNvPicPr>
          <p:nvPr/>
        </p:nvPicPr>
        <p:blipFill>
          <a:blip r:embed="rId2"/>
          <a:stretch>
            <a:fillRect/>
          </a:stretch>
        </p:blipFill>
        <p:spPr>
          <a:xfrm>
            <a:off x="7969150" y="2340461"/>
            <a:ext cx="2284997" cy="431147"/>
          </a:xfrm>
          <a:prstGeom prst="rect">
            <a:avLst/>
          </a:prstGeom>
        </p:spPr>
      </p:pic>
      <p:sp>
        <p:nvSpPr>
          <p:cNvPr id="9" name="TextBox 8">
            <a:extLst>
              <a:ext uri="{FF2B5EF4-FFF2-40B4-BE49-F238E27FC236}">
                <a16:creationId xmlns:a16="http://schemas.microsoft.com/office/drawing/2014/main" id="{C793C2C9-03D0-8812-E4E7-9C1E05B7319C}"/>
              </a:ext>
            </a:extLst>
          </p:cNvPr>
          <p:cNvSpPr txBox="1"/>
          <p:nvPr/>
        </p:nvSpPr>
        <p:spPr>
          <a:xfrm>
            <a:off x="296858" y="2334420"/>
            <a:ext cx="7001609" cy="590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dirty="0"/>
              <a:t>d(</a:t>
            </a:r>
            <a:r>
              <a:rPr lang="en-US" err="1"/>
              <a:t>n,goal</a:t>
            </a:r>
            <a:r>
              <a:rPr lang="en-US" dirty="0"/>
              <a:t>) = estimated remaining distance.</a:t>
            </a:r>
            <a:endParaRPr lang="en-US"/>
          </a:p>
          <a:p>
            <a:pPr>
              <a:lnSpc>
                <a:spcPct val="90000"/>
              </a:lnSpc>
            </a:pPr>
            <a:r>
              <a:rPr lang="en-US" err="1"/>
              <a:t>E</a:t>
            </a:r>
            <a:r>
              <a:rPr lang="en-US" baseline="-25000" err="1"/>
              <a:t>unit</a:t>
            </a:r>
            <a:r>
              <a:rPr lang="en-US" baseline="-25000" dirty="0"/>
              <a:t>​</a:t>
            </a:r>
            <a:r>
              <a:rPr lang="en-US" dirty="0"/>
              <a:t> = average energy per unit distance (calculated from dataset).</a:t>
            </a:r>
          </a:p>
        </p:txBody>
      </p:sp>
      <p:sp>
        <p:nvSpPr>
          <p:cNvPr id="10" name="TextBox 9">
            <a:extLst>
              <a:ext uri="{FF2B5EF4-FFF2-40B4-BE49-F238E27FC236}">
                <a16:creationId xmlns:a16="http://schemas.microsoft.com/office/drawing/2014/main" id="{1FFC4C64-0DAE-3EE8-AA22-0340CDEABB01}"/>
              </a:ext>
            </a:extLst>
          </p:cNvPr>
          <p:cNvSpPr txBox="1"/>
          <p:nvPr/>
        </p:nvSpPr>
        <p:spPr>
          <a:xfrm>
            <a:off x="296858" y="3256270"/>
            <a:ext cx="5535598" cy="424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2400" dirty="0"/>
              <a:t>Final A* -energy optimized model - </a:t>
            </a:r>
          </a:p>
        </p:txBody>
      </p:sp>
      <p:pic>
        <p:nvPicPr>
          <p:cNvPr id="12" name="Picture 11" descr="A math equations on a white background&#10;&#10;AI-generated content may be incorrect.">
            <a:extLst>
              <a:ext uri="{FF2B5EF4-FFF2-40B4-BE49-F238E27FC236}">
                <a16:creationId xmlns:a16="http://schemas.microsoft.com/office/drawing/2014/main" id="{6A831AE2-29CB-0585-5995-70169F5A3D5A}"/>
              </a:ext>
            </a:extLst>
          </p:cNvPr>
          <p:cNvPicPr>
            <a:picLocks noChangeAspect="1"/>
          </p:cNvPicPr>
          <p:nvPr/>
        </p:nvPicPr>
        <p:blipFill>
          <a:blip r:embed="rId3"/>
          <a:stretch>
            <a:fillRect/>
          </a:stretch>
        </p:blipFill>
        <p:spPr>
          <a:xfrm>
            <a:off x="3204716" y="4266646"/>
            <a:ext cx="5782282" cy="1243895"/>
          </a:xfrm>
          <a:prstGeom prst="rect">
            <a:avLst/>
          </a:prstGeom>
        </p:spPr>
      </p:pic>
      <p:sp>
        <p:nvSpPr>
          <p:cNvPr id="5" name="TextBox 4">
            <a:extLst>
              <a:ext uri="{FF2B5EF4-FFF2-40B4-BE49-F238E27FC236}">
                <a16:creationId xmlns:a16="http://schemas.microsoft.com/office/drawing/2014/main" id="{14E4E1CC-FF57-0E2E-18A5-D2DBB25D1225}"/>
              </a:ext>
            </a:extLst>
          </p:cNvPr>
          <p:cNvSpPr txBox="1"/>
          <p:nvPr/>
        </p:nvSpPr>
        <p:spPr>
          <a:xfrm>
            <a:off x="9447212" y="6159004"/>
            <a:ext cx="2590800" cy="424732"/>
          </a:xfrm>
          <a:prstGeom prst="rect">
            <a:avLst/>
          </a:prstGeom>
          <a:noFill/>
        </p:spPr>
        <p:txBody>
          <a:bodyPr wrap="square" rtlCol="0">
            <a:spAutoFit/>
          </a:bodyPr>
          <a:lstStyle/>
          <a:p>
            <a:pPr>
              <a:lnSpc>
                <a:spcPct val="90000"/>
              </a:lnSpc>
            </a:pPr>
            <a:r>
              <a:rPr lang="en-US" sz="2400" dirty="0">
                <a:solidFill>
                  <a:schemeClr val="accent1"/>
                </a:solidFill>
              </a:rPr>
              <a:t>Objective Function</a:t>
            </a:r>
            <a:endParaRPr lang="en-IN" sz="2400" dirty="0">
              <a:solidFill>
                <a:schemeClr val="accent1"/>
              </a:solidFill>
            </a:endParaRPr>
          </a:p>
        </p:txBody>
      </p:sp>
    </p:spTree>
    <p:extLst>
      <p:ext uri="{BB962C8B-B14F-4D97-AF65-F5344CB8AC3E}">
        <p14:creationId xmlns:p14="http://schemas.microsoft.com/office/powerpoint/2010/main" val="1229960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A1A7-C7DE-C37A-44C6-701862FCE4B8}"/>
              </a:ext>
            </a:extLst>
          </p:cNvPr>
          <p:cNvSpPr>
            <a:spLocks noGrp="1"/>
          </p:cNvSpPr>
          <p:nvPr>
            <p:ph type="ctrTitle"/>
          </p:nvPr>
        </p:nvSpPr>
        <p:spPr/>
        <p:txBody>
          <a:bodyPr/>
          <a:lstStyle/>
          <a:p>
            <a:r>
              <a:rPr lang="en-US" dirty="0"/>
              <a:t>Methodology</a:t>
            </a:r>
            <a:endParaRPr lang="en-IN" dirty="0"/>
          </a:p>
        </p:txBody>
      </p:sp>
    </p:spTree>
    <p:extLst>
      <p:ext uri="{BB962C8B-B14F-4D97-AF65-F5344CB8AC3E}">
        <p14:creationId xmlns:p14="http://schemas.microsoft.com/office/powerpoint/2010/main" val="34535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CDE7369F-E7D2-D8BC-E406-E04BAA24EA13}"/>
              </a:ext>
            </a:extLst>
          </p:cNvPr>
          <p:cNvPicPr>
            <a:picLocks noChangeAspect="1"/>
          </p:cNvPicPr>
          <p:nvPr/>
        </p:nvPicPr>
        <p:blipFill>
          <a:blip r:embed="rId2"/>
          <a:stretch>
            <a:fillRect/>
          </a:stretch>
        </p:blipFill>
        <p:spPr>
          <a:xfrm>
            <a:off x="0" y="1104900"/>
            <a:ext cx="12194109" cy="4648200"/>
          </a:xfrm>
          <a:prstGeom prst="rect">
            <a:avLst/>
          </a:prstGeom>
        </p:spPr>
      </p:pic>
      <p:sp>
        <p:nvSpPr>
          <p:cNvPr id="4" name="TextBox 3">
            <a:extLst>
              <a:ext uri="{FF2B5EF4-FFF2-40B4-BE49-F238E27FC236}">
                <a16:creationId xmlns:a16="http://schemas.microsoft.com/office/drawing/2014/main" id="{8EBBE62F-C719-DB30-FB93-EFAF4FB87F3F}"/>
              </a:ext>
            </a:extLst>
          </p:cNvPr>
          <p:cNvSpPr txBox="1"/>
          <p:nvPr/>
        </p:nvSpPr>
        <p:spPr>
          <a:xfrm>
            <a:off x="5522912" y="6019800"/>
            <a:ext cx="1143000" cy="381000"/>
          </a:xfrm>
          <a:prstGeom prst="rect">
            <a:avLst/>
          </a:prstGeom>
          <a:noFill/>
        </p:spPr>
        <p:txBody>
          <a:bodyPr wrap="square">
            <a:spAutoFit/>
          </a:bodyPr>
          <a:lstStyle/>
          <a:p>
            <a:r>
              <a:rPr lang="en-US" dirty="0"/>
              <a:t>Summary</a:t>
            </a:r>
            <a:endParaRPr lang="en-IN" dirty="0"/>
          </a:p>
        </p:txBody>
      </p:sp>
    </p:spTree>
    <p:extLst>
      <p:ext uri="{BB962C8B-B14F-4D97-AF65-F5344CB8AC3E}">
        <p14:creationId xmlns:p14="http://schemas.microsoft.com/office/powerpoint/2010/main" val="337541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21EF9-5A1D-F2D3-A3ED-38F36FB9F852}"/>
              </a:ext>
            </a:extLst>
          </p:cNvPr>
          <p:cNvSpPr>
            <a:spLocks noGrp="1"/>
          </p:cNvSpPr>
          <p:nvPr>
            <p:ph idx="1"/>
          </p:nvPr>
        </p:nvSpPr>
        <p:spPr>
          <a:xfrm>
            <a:off x="1656027" y="1752600"/>
            <a:ext cx="5673813" cy="4462743"/>
          </a:xfrm>
        </p:spPr>
        <p:txBody>
          <a:bodyPr vert="horz" lIns="91440" tIns="45720" rIns="91440" bIns="45720" rtlCol="0" anchor="t">
            <a:normAutofit/>
          </a:bodyPr>
          <a:lstStyle/>
          <a:p>
            <a:pPr marL="0" indent="0">
              <a:buNone/>
            </a:pPr>
            <a:r>
              <a:rPr lang="en-US" sz="1700" dirty="0">
                <a:ea typeface="+mn-lt"/>
                <a:cs typeface="+mn-lt"/>
              </a:rPr>
              <a:t>We get the energy consumption values from the dataset</a:t>
            </a:r>
          </a:p>
          <a:p>
            <a:pPr marL="0" indent="0">
              <a:buNone/>
            </a:pPr>
            <a:r>
              <a:rPr lang="en-US" sz="1700" b="1" dirty="0">
                <a:ea typeface="+mn-lt"/>
                <a:cs typeface="+mn-lt"/>
              </a:rPr>
              <a:t>Driving  Energy</a:t>
            </a:r>
            <a:r>
              <a:rPr lang="en-US" sz="1700" dirty="0">
                <a:ea typeface="+mn-lt"/>
                <a:cs typeface="+mn-lt"/>
              </a:rPr>
              <a:t>:</a:t>
            </a:r>
          </a:p>
          <a:p>
            <a:pPr marL="274320" lvl="1" indent="0">
              <a:buNone/>
            </a:pPr>
            <a:r>
              <a:rPr lang="en-US" sz="1700" dirty="0">
                <a:ea typeface="+mn-lt"/>
                <a:cs typeface="+mn-lt"/>
              </a:rPr>
              <a:t>Mean Power: </a:t>
            </a:r>
            <a:r>
              <a:rPr lang="en-US" sz="1700" b="1" dirty="0">
                <a:ea typeface="+mn-lt"/>
                <a:cs typeface="+mn-lt"/>
              </a:rPr>
              <a:t>37.90 W</a:t>
            </a:r>
            <a:endParaRPr lang="en-US" sz="1700" dirty="0"/>
          </a:p>
          <a:p>
            <a:pPr marL="274320" lvl="1" indent="0">
              <a:buNone/>
            </a:pPr>
            <a:r>
              <a:rPr lang="en-US" sz="1700" dirty="0">
                <a:ea typeface="+mn-lt"/>
                <a:cs typeface="+mn-lt"/>
              </a:rPr>
              <a:t>Standard Deviation: </a:t>
            </a:r>
            <a:r>
              <a:rPr lang="en-US" sz="1700" b="1" dirty="0">
                <a:ea typeface="+mn-lt"/>
                <a:cs typeface="+mn-lt"/>
              </a:rPr>
              <a:t>6.85 W</a:t>
            </a:r>
            <a:endParaRPr lang="en-US" sz="1700" dirty="0"/>
          </a:p>
          <a:p>
            <a:pPr marL="274320" lvl="1" indent="0">
              <a:buNone/>
            </a:pPr>
            <a:r>
              <a:rPr lang="en-US" sz="1700" dirty="0">
                <a:ea typeface="+mn-lt"/>
                <a:cs typeface="+mn-lt"/>
              </a:rPr>
              <a:t>Mean Drive Time: </a:t>
            </a:r>
            <a:r>
              <a:rPr lang="en-US" sz="1700" b="1" dirty="0">
                <a:ea typeface="+mn-lt"/>
                <a:cs typeface="+mn-lt"/>
              </a:rPr>
              <a:t>33.70 s</a:t>
            </a:r>
            <a:r>
              <a:rPr lang="en-US" sz="1700" dirty="0">
                <a:ea typeface="+mn-lt"/>
                <a:cs typeface="+mn-lt"/>
              </a:rPr>
              <a:t> </a:t>
            </a:r>
            <a:endParaRPr lang="en-US" sz="1700" dirty="0"/>
          </a:p>
          <a:p>
            <a:pPr marL="0" indent="0">
              <a:buNone/>
            </a:pPr>
            <a:r>
              <a:rPr lang="en-US" sz="1700" b="1" dirty="0">
                <a:ea typeface="+mn-lt"/>
                <a:cs typeface="+mn-lt"/>
              </a:rPr>
              <a:t>Control System Energy</a:t>
            </a:r>
            <a:r>
              <a:rPr lang="en-US" sz="1700" dirty="0">
                <a:ea typeface="+mn-lt"/>
                <a:cs typeface="+mn-lt"/>
              </a:rPr>
              <a:t>:</a:t>
            </a:r>
            <a:endParaRPr lang="en-US" sz="1700" dirty="0"/>
          </a:p>
          <a:p>
            <a:pPr marL="274320" lvl="1" indent="0">
              <a:buNone/>
            </a:pPr>
            <a:r>
              <a:rPr lang="en-US" sz="1700" b="1" dirty="0">
                <a:ea typeface="+mn-lt"/>
                <a:cs typeface="+mn-lt"/>
              </a:rPr>
              <a:t>Standby Power</a:t>
            </a:r>
            <a:r>
              <a:rPr lang="en-US" sz="1700" dirty="0">
                <a:ea typeface="+mn-lt"/>
                <a:cs typeface="+mn-lt"/>
              </a:rPr>
              <a:t>: </a:t>
            </a:r>
            <a:r>
              <a:rPr lang="en-US" sz="1700" b="1" dirty="0">
                <a:ea typeface="+mn-lt"/>
                <a:cs typeface="+mn-lt"/>
              </a:rPr>
              <a:t>55.15 W</a:t>
            </a:r>
            <a:endParaRPr lang="en-US" sz="1700" dirty="0"/>
          </a:p>
          <a:p>
            <a:pPr marL="274320" lvl="1" indent="0">
              <a:buNone/>
            </a:pPr>
            <a:r>
              <a:rPr lang="en-US" sz="1700" b="1" dirty="0">
                <a:ea typeface="+mn-lt"/>
                <a:cs typeface="+mn-lt"/>
              </a:rPr>
              <a:t>Active Control Power</a:t>
            </a:r>
            <a:r>
              <a:rPr lang="en-US" sz="1700" dirty="0">
                <a:ea typeface="+mn-lt"/>
                <a:cs typeface="+mn-lt"/>
              </a:rPr>
              <a:t>: </a:t>
            </a:r>
            <a:r>
              <a:rPr lang="en-US" sz="1700" b="1" dirty="0">
                <a:ea typeface="+mn-lt"/>
                <a:cs typeface="+mn-lt"/>
              </a:rPr>
              <a:t>63.19 W</a:t>
            </a:r>
            <a:r>
              <a:rPr lang="en-US" sz="1700" dirty="0">
                <a:ea typeface="+mn-lt"/>
                <a:cs typeface="+mn-lt"/>
              </a:rPr>
              <a:t> </a:t>
            </a:r>
            <a:endParaRPr lang="en-US" sz="1700" dirty="0"/>
          </a:p>
          <a:p>
            <a:pPr marL="0" indent="0">
              <a:buNone/>
            </a:pPr>
            <a:r>
              <a:rPr lang="en-US" sz="1700" b="1" dirty="0">
                <a:ea typeface="+mn-lt"/>
                <a:cs typeface="+mn-lt"/>
              </a:rPr>
              <a:t>Load Handling Energy</a:t>
            </a:r>
            <a:r>
              <a:rPr lang="en-US" sz="1700" dirty="0">
                <a:ea typeface="+mn-lt"/>
                <a:cs typeface="+mn-lt"/>
              </a:rPr>
              <a:t>:</a:t>
            </a:r>
            <a:endParaRPr lang="en-US" sz="1700" dirty="0"/>
          </a:p>
          <a:p>
            <a:pPr marL="274320" lvl="1" indent="0">
              <a:buNone/>
            </a:pPr>
            <a:r>
              <a:rPr lang="en-US" sz="1700" b="1" dirty="0">
                <a:ea typeface="+mn-lt"/>
                <a:cs typeface="+mn-lt"/>
              </a:rPr>
              <a:t>Standby Power</a:t>
            </a:r>
            <a:r>
              <a:rPr lang="en-US" sz="1700" dirty="0">
                <a:ea typeface="+mn-lt"/>
                <a:cs typeface="+mn-lt"/>
              </a:rPr>
              <a:t>: </a:t>
            </a:r>
            <a:r>
              <a:rPr lang="en-US" sz="1700" b="1" dirty="0">
                <a:ea typeface="+mn-lt"/>
                <a:cs typeface="+mn-lt"/>
              </a:rPr>
              <a:t>7.50 W</a:t>
            </a:r>
            <a:endParaRPr lang="en-US" sz="1700" dirty="0"/>
          </a:p>
          <a:p>
            <a:pPr marL="274320" lvl="1" indent="0">
              <a:buNone/>
            </a:pPr>
            <a:r>
              <a:rPr lang="en-US" sz="1700" b="1" dirty="0">
                <a:ea typeface="+mn-lt"/>
                <a:cs typeface="+mn-lt"/>
              </a:rPr>
              <a:t>Active Load Power</a:t>
            </a:r>
            <a:r>
              <a:rPr lang="en-US" sz="1700" dirty="0">
                <a:ea typeface="+mn-lt"/>
                <a:cs typeface="+mn-lt"/>
              </a:rPr>
              <a:t>: </a:t>
            </a:r>
            <a:r>
              <a:rPr lang="en-US" sz="1700" b="1" dirty="0">
                <a:ea typeface="+mn-lt"/>
                <a:cs typeface="+mn-lt"/>
              </a:rPr>
              <a:t>54.71 W</a:t>
            </a:r>
            <a:endParaRPr lang="en-US" sz="1700" dirty="0"/>
          </a:p>
          <a:p>
            <a:pPr marL="274320" lvl="1" indent="0">
              <a:buNone/>
            </a:pPr>
            <a:r>
              <a:rPr lang="en-US" sz="1700" b="1" dirty="0">
                <a:ea typeface="+mn-lt"/>
                <a:cs typeface="+mn-lt"/>
              </a:rPr>
              <a:t>Mean Load Handling Time</a:t>
            </a:r>
            <a:r>
              <a:rPr lang="en-US" sz="1700" dirty="0">
                <a:ea typeface="+mn-lt"/>
                <a:cs typeface="+mn-lt"/>
              </a:rPr>
              <a:t>: </a:t>
            </a:r>
            <a:r>
              <a:rPr lang="en-US" sz="1700" b="1" dirty="0">
                <a:ea typeface="+mn-lt"/>
                <a:cs typeface="+mn-lt"/>
              </a:rPr>
              <a:t>8.67 s</a:t>
            </a:r>
            <a:r>
              <a:rPr lang="en-US" sz="1700" dirty="0">
                <a:ea typeface="+mn-lt"/>
                <a:cs typeface="+mn-lt"/>
              </a:rPr>
              <a:t> </a:t>
            </a:r>
            <a:endParaRPr lang="en-US" sz="1700" dirty="0"/>
          </a:p>
          <a:p>
            <a:endParaRPr lang="en-US" sz="1700" dirty="0"/>
          </a:p>
        </p:txBody>
      </p:sp>
      <p:sp>
        <p:nvSpPr>
          <p:cNvPr id="4" name="TextBox 3">
            <a:extLst>
              <a:ext uri="{FF2B5EF4-FFF2-40B4-BE49-F238E27FC236}">
                <a16:creationId xmlns:a16="http://schemas.microsoft.com/office/drawing/2014/main" id="{B1DC8306-8C71-6EC4-2493-0725F5F4980A}"/>
              </a:ext>
            </a:extLst>
          </p:cNvPr>
          <p:cNvSpPr txBox="1"/>
          <p:nvPr/>
        </p:nvSpPr>
        <p:spPr>
          <a:xfrm>
            <a:off x="1525514" y="756103"/>
            <a:ext cx="9849857" cy="5355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pPr>
            <a:r>
              <a:rPr lang="en-US" sz="3200" dirty="0">
                <a:latin typeface="Consolas"/>
              </a:rPr>
              <a:t>Implementation and testing​</a:t>
            </a:r>
            <a:endParaRPr lang="en-US" dirty="0"/>
          </a:p>
        </p:txBody>
      </p:sp>
      <p:pic>
        <p:nvPicPr>
          <p:cNvPr id="5" name="Picture 4">
            <a:extLst>
              <a:ext uri="{FF2B5EF4-FFF2-40B4-BE49-F238E27FC236}">
                <a16:creationId xmlns:a16="http://schemas.microsoft.com/office/drawing/2014/main" id="{B79AADB2-B160-7ACE-033D-C2FA8FFA5F82}"/>
              </a:ext>
            </a:extLst>
          </p:cNvPr>
          <p:cNvPicPr>
            <a:picLocks noChangeAspect="1"/>
          </p:cNvPicPr>
          <p:nvPr/>
        </p:nvPicPr>
        <p:blipFill>
          <a:blip r:embed="rId2"/>
          <a:stretch>
            <a:fillRect/>
          </a:stretch>
        </p:blipFill>
        <p:spPr>
          <a:xfrm>
            <a:off x="7691451" y="2311219"/>
            <a:ext cx="3228886" cy="534641"/>
          </a:xfrm>
          <a:prstGeom prst="rect">
            <a:avLst/>
          </a:prstGeom>
        </p:spPr>
      </p:pic>
      <p:pic>
        <p:nvPicPr>
          <p:cNvPr id="6" name="Picture 5">
            <a:extLst>
              <a:ext uri="{FF2B5EF4-FFF2-40B4-BE49-F238E27FC236}">
                <a16:creationId xmlns:a16="http://schemas.microsoft.com/office/drawing/2014/main" id="{CBCEF750-C051-BD1F-97B2-24CAA2D18F4D}"/>
              </a:ext>
            </a:extLst>
          </p:cNvPr>
          <p:cNvPicPr>
            <a:picLocks noChangeAspect="1"/>
          </p:cNvPicPr>
          <p:nvPr/>
        </p:nvPicPr>
        <p:blipFill>
          <a:blip r:embed="rId3"/>
          <a:stretch>
            <a:fillRect/>
          </a:stretch>
        </p:blipFill>
        <p:spPr>
          <a:xfrm>
            <a:off x="7695891" y="3577171"/>
            <a:ext cx="3220003" cy="572741"/>
          </a:xfrm>
          <a:prstGeom prst="rect">
            <a:avLst/>
          </a:prstGeom>
        </p:spPr>
      </p:pic>
      <p:pic>
        <p:nvPicPr>
          <p:cNvPr id="7" name="Picture 6">
            <a:extLst>
              <a:ext uri="{FF2B5EF4-FFF2-40B4-BE49-F238E27FC236}">
                <a16:creationId xmlns:a16="http://schemas.microsoft.com/office/drawing/2014/main" id="{6194793F-2D1B-E20D-8492-7E7B6DDCA3AD}"/>
              </a:ext>
            </a:extLst>
          </p:cNvPr>
          <p:cNvPicPr>
            <a:picLocks noChangeAspect="1"/>
          </p:cNvPicPr>
          <p:nvPr/>
        </p:nvPicPr>
        <p:blipFill>
          <a:blip r:embed="rId4"/>
          <a:stretch>
            <a:fillRect/>
          </a:stretch>
        </p:blipFill>
        <p:spPr>
          <a:xfrm>
            <a:off x="7694612" y="4838360"/>
            <a:ext cx="3222564" cy="620366"/>
          </a:xfrm>
          <a:prstGeom prst="rect">
            <a:avLst/>
          </a:prstGeom>
        </p:spPr>
      </p:pic>
    </p:spTree>
    <p:extLst>
      <p:ext uri="{BB962C8B-B14F-4D97-AF65-F5344CB8AC3E}">
        <p14:creationId xmlns:p14="http://schemas.microsoft.com/office/powerpoint/2010/main" val="250902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B656E-2838-5725-5FA6-90B1F013D96D}"/>
              </a:ext>
            </a:extLst>
          </p:cNvPr>
          <p:cNvSpPr>
            <a:spLocks noGrp="1"/>
          </p:cNvSpPr>
          <p:nvPr>
            <p:ph type="title"/>
          </p:nvPr>
        </p:nvSpPr>
        <p:spPr/>
        <p:txBody>
          <a:bodyPr/>
          <a:lstStyle/>
          <a:p>
            <a:r>
              <a:rPr lang="en-US" dirty="0"/>
              <a:t>CODE</a:t>
            </a:r>
            <a:endParaRPr lang="en-IN" dirty="0"/>
          </a:p>
        </p:txBody>
      </p:sp>
    </p:spTree>
    <p:extLst>
      <p:ext uri="{BB962C8B-B14F-4D97-AF65-F5344CB8AC3E}">
        <p14:creationId xmlns:p14="http://schemas.microsoft.com/office/powerpoint/2010/main" val="264317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7EEF5EA-E460-59BC-FE09-27785731F008}"/>
              </a:ext>
            </a:extLst>
          </p:cNvPr>
          <p:cNvPicPr>
            <a:picLocks noGrp="1" noChangeAspect="1"/>
          </p:cNvPicPr>
          <p:nvPr>
            <p:ph idx="4294967295"/>
          </p:nvPr>
        </p:nvPicPr>
        <p:blipFill>
          <a:blip r:embed="rId2"/>
          <a:stretch>
            <a:fillRect/>
          </a:stretch>
        </p:blipFill>
        <p:spPr>
          <a:xfrm>
            <a:off x="103911" y="89019"/>
            <a:ext cx="4957525" cy="2714461"/>
          </a:xfrm>
        </p:spPr>
      </p:pic>
      <p:pic>
        <p:nvPicPr>
          <p:cNvPr id="6" name="Picture 5" descr="A screenshot of a computer program&#10;&#10;AI-generated content may be incorrect.">
            <a:extLst>
              <a:ext uri="{FF2B5EF4-FFF2-40B4-BE49-F238E27FC236}">
                <a16:creationId xmlns:a16="http://schemas.microsoft.com/office/drawing/2014/main" id="{E1CF9CBB-64B2-1687-59B1-F1F3E4BBAA08}"/>
              </a:ext>
            </a:extLst>
          </p:cNvPr>
          <p:cNvPicPr>
            <a:picLocks noChangeAspect="1"/>
          </p:cNvPicPr>
          <p:nvPr/>
        </p:nvPicPr>
        <p:blipFill>
          <a:blip r:embed="rId3"/>
          <a:stretch>
            <a:fillRect/>
          </a:stretch>
        </p:blipFill>
        <p:spPr>
          <a:xfrm>
            <a:off x="116673" y="2935549"/>
            <a:ext cx="4944763" cy="3839350"/>
          </a:xfrm>
          <a:prstGeom prst="rect">
            <a:avLst/>
          </a:prstGeom>
        </p:spPr>
      </p:pic>
      <p:pic>
        <p:nvPicPr>
          <p:cNvPr id="7" name="Picture 6" descr="A computer screen shot of a program code&#10;&#10;AI-generated content may be incorrect.">
            <a:extLst>
              <a:ext uri="{FF2B5EF4-FFF2-40B4-BE49-F238E27FC236}">
                <a16:creationId xmlns:a16="http://schemas.microsoft.com/office/drawing/2014/main" id="{326BB29F-AC97-56F9-6CE8-D822A0BCAEED}"/>
              </a:ext>
            </a:extLst>
          </p:cNvPr>
          <p:cNvPicPr>
            <a:picLocks noChangeAspect="1"/>
          </p:cNvPicPr>
          <p:nvPr/>
        </p:nvPicPr>
        <p:blipFill>
          <a:blip r:embed="rId4"/>
          <a:stretch>
            <a:fillRect/>
          </a:stretch>
        </p:blipFill>
        <p:spPr>
          <a:xfrm>
            <a:off x="5202719" y="89018"/>
            <a:ext cx="6882195" cy="2273181"/>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05511DFE-4228-3A1E-37FE-7D7682AA7558}"/>
              </a:ext>
            </a:extLst>
          </p:cNvPr>
          <p:cNvPicPr>
            <a:picLocks noChangeAspect="1"/>
          </p:cNvPicPr>
          <p:nvPr/>
        </p:nvPicPr>
        <p:blipFill>
          <a:blip r:embed="rId5"/>
          <a:stretch>
            <a:fillRect/>
          </a:stretch>
        </p:blipFill>
        <p:spPr>
          <a:xfrm>
            <a:off x="5176452" y="3200401"/>
            <a:ext cx="6895700" cy="3568582"/>
          </a:xfrm>
          <a:prstGeom prst="rect">
            <a:avLst/>
          </a:prstGeom>
        </p:spPr>
      </p:pic>
      <p:sp>
        <p:nvSpPr>
          <p:cNvPr id="2" name="Title 1">
            <a:extLst>
              <a:ext uri="{FF2B5EF4-FFF2-40B4-BE49-F238E27FC236}">
                <a16:creationId xmlns:a16="http://schemas.microsoft.com/office/drawing/2014/main" id="{3AC1B99D-AA72-DF01-DB6A-282D6F938F2B}"/>
              </a:ext>
            </a:extLst>
          </p:cNvPr>
          <p:cNvSpPr txBox="1">
            <a:spLocks/>
          </p:cNvSpPr>
          <p:nvPr/>
        </p:nvSpPr>
        <p:spPr>
          <a:xfrm>
            <a:off x="5408612" y="2544741"/>
            <a:ext cx="6553200" cy="473118"/>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dirty="0">
                <a:solidFill>
                  <a:schemeClr val="accent1"/>
                </a:solidFill>
              </a:rPr>
              <a:t>Traditional and Improved A*</a:t>
            </a:r>
            <a:endParaRPr lang="en-IN" dirty="0">
              <a:solidFill>
                <a:schemeClr val="accent1"/>
              </a:solidFill>
            </a:endParaRPr>
          </a:p>
        </p:txBody>
      </p:sp>
    </p:spTree>
    <p:extLst>
      <p:ext uri="{BB962C8B-B14F-4D97-AF65-F5344CB8AC3E}">
        <p14:creationId xmlns:p14="http://schemas.microsoft.com/office/powerpoint/2010/main" val="908313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 program&#10;&#10;AI-generated content may be incorrect.">
            <a:extLst>
              <a:ext uri="{FF2B5EF4-FFF2-40B4-BE49-F238E27FC236}">
                <a16:creationId xmlns:a16="http://schemas.microsoft.com/office/drawing/2014/main" id="{5B9E3685-5086-42F2-6074-44EDD6563669}"/>
              </a:ext>
            </a:extLst>
          </p:cNvPr>
          <p:cNvPicPr>
            <a:picLocks noChangeAspect="1"/>
          </p:cNvPicPr>
          <p:nvPr/>
        </p:nvPicPr>
        <p:blipFill>
          <a:blip r:embed="rId2"/>
          <a:stretch>
            <a:fillRect/>
          </a:stretch>
        </p:blipFill>
        <p:spPr>
          <a:xfrm>
            <a:off x="6475412" y="118548"/>
            <a:ext cx="5562601" cy="2904981"/>
          </a:xfrm>
          <a:prstGeom prst="rect">
            <a:avLst/>
          </a:prstGeom>
        </p:spPr>
      </p:pic>
      <p:pic>
        <p:nvPicPr>
          <p:cNvPr id="11" name="Content Placeholder 10" descr="A screenshot of a computer program&#10;&#10;AI-generated content may be incorrect.">
            <a:extLst>
              <a:ext uri="{FF2B5EF4-FFF2-40B4-BE49-F238E27FC236}">
                <a16:creationId xmlns:a16="http://schemas.microsoft.com/office/drawing/2014/main" id="{32F4505A-515B-E109-7705-1E48EBC7D377}"/>
              </a:ext>
            </a:extLst>
          </p:cNvPr>
          <p:cNvPicPr>
            <a:picLocks noGrp="1" noChangeAspect="1"/>
          </p:cNvPicPr>
          <p:nvPr>
            <p:ph idx="4294967295"/>
          </p:nvPr>
        </p:nvPicPr>
        <p:blipFill>
          <a:blip r:embed="rId3"/>
          <a:stretch>
            <a:fillRect/>
          </a:stretch>
        </p:blipFill>
        <p:spPr>
          <a:xfrm>
            <a:off x="150812" y="105070"/>
            <a:ext cx="6170613" cy="6661655"/>
          </a:xfrm>
        </p:spPr>
      </p:pic>
      <p:pic>
        <p:nvPicPr>
          <p:cNvPr id="12" name="Picture 11" descr="A screenshot of a computer program&#10;&#10;AI-generated content may be incorrect.">
            <a:extLst>
              <a:ext uri="{FF2B5EF4-FFF2-40B4-BE49-F238E27FC236}">
                <a16:creationId xmlns:a16="http://schemas.microsoft.com/office/drawing/2014/main" id="{A7719F10-0896-6D0C-3BFC-95716D422333}"/>
              </a:ext>
            </a:extLst>
          </p:cNvPr>
          <p:cNvPicPr>
            <a:picLocks noChangeAspect="1"/>
          </p:cNvPicPr>
          <p:nvPr/>
        </p:nvPicPr>
        <p:blipFill>
          <a:blip r:embed="rId4"/>
          <a:stretch>
            <a:fillRect/>
          </a:stretch>
        </p:blipFill>
        <p:spPr>
          <a:xfrm>
            <a:off x="8075612" y="3129375"/>
            <a:ext cx="3962401" cy="3610077"/>
          </a:xfrm>
          <a:prstGeom prst="rect">
            <a:avLst/>
          </a:prstGeom>
        </p:spPr>
      </p:pic>
      <p:sp>
        <p:nvSpPr>
          <p:cNvPr id="2" name="TextBox 1">
            <a:extLst>
              <a:ext uri="{FF2B5EF4-FFF2-40B4-BE49-F238E27FC236}">
                <a16:creationId xmlns:a16="http://schemas.microsoft.com/office/drawing/2014/main" id="{68E7181C-8443-9CE3-7A80-48272BFC4188}"/>
              </a:ext>
            </a:extLst>
          </p:cNvPr>
          <p:cNvSpPr txBox="1"/>
          <p:nvPr/>
        </p:nvSpPr>
        <p:spPr>
          <a:xfrm>
            <a:off x="6713001" y="3481922"/>
            <a:ext cx="971035" cy="2904981"/>
          </a:xfrm>
          <a:prstGeom prst="rect">
            <a:avLst/>
          </a:prstGeom>
          <a:noFill/>
        </p:spPr>
        <p:txBody>
          <a:bodyPr vert="wordArtVert" wrap="square" rtlCol="0">
            <a:spAutoFit/>
          </a:bodyPr>
          <a:lstStyle/>
          <a:p>
            <a:pPr>
              <a:lnSpc>
                <a:spcPct val="90000"/>
              </a:lnSpc>
            </a:pPr>
            <a:r>
              <a:rPr lang="en-US" sz="2400" dirty="0">
                <a:solidFill>
                  <a:schemeClr val="accent1"/>
                </a:solidFill>
                <a:latin typeface="Bahnschrift SemiBold" panose="020B0502040204020203" pitchFamily="34" charset="0"/>
              </a:rPr>
              <a:t>MAIN FUNCTION</a:t>
            </a:r>
            <a:endParaRPr lang="en-IN" sz="2400" dirty="0">
              <a:solidFill>
                <a:schemeClr val="accent1"/>
              </a:solidFill>
              <a:latin typeface="Bahnschrift SemiBold" panose="020B0502040204020203" pitchFamily="34" charset="0"/>
            </a:endParaRPr>
          </a:p>
        </p:txBody>
      </p:sp>
    </p:spTree>
    <p:extLst>
      <p:ext uri="{BB962C8B-B14F-4D97-AF65-F5344CB8AC3E}">
        <p14:creationId xmlns:p14="http://schemas.microsoft.com/office/powerpoint/2010/main" val="204738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AA674-DF3C-331C-DD40-AA8A52E32A53}"/>
              </a:ext>
            </a:extLst>
          </p:cNvPr>
          <p:cNvSpPr>
            <a:spLocks noGrp="1"/>
          </p:cNvSpPr>
          <p:nvPr>
            <p:ph type="title"/>
          </p:nvPr>
        </p:nvSpPr>
        <p:spPr/>
        <p:txBody>
          <a:bodyPr/>
          <a:lstStyle/>
          <a:p>
            <a:r>
              <a:rPr lang="en-US" dirty="0"/>
              <a:t>Results and Analysis</a:t>
            </a:r>
            <a:endParaRPr lang="en-IN" dirty="0"/>
          </a:p>
        </p:txBody>
      </p:sp>
    </p:spTree>
    <p:extLst>
      <p:ext uri="{BB962C8B-B14F-4D97-AF65-F5344CB8AC3E}">
        <p14:creationId xmlns:p14="http://schemas.microsoft.com/office/powerpoint/2010/main" val="3178636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with numbers and lines&#10;&#10;AI-generated content may be incorrect.">
            <a:extLst>
              <a:ext uri="{FF2B5EF4-FFF2-40B4-BE49-F238E27FC236}">
                <a16:creationId xmlns:a16="http://schemas.microsoft.com/office/drawing/2014/main" id="{DAA93B2A-C416-F6BD-5E36-556CBD8EE1D1}"/>
              </a:ext>
            </a:extLst>
          </p:cNvPr>
          <p:cNvPicPr>
            <a:picLocks noGrp="1" noChangeAspect="1"/>
          </p:cNvPicPr>
          <p:nvPr>
            <p:ph idx="4294967295"/>
          </p:nvPr>
        </p:nvPicPr>
        <p:blipFill>
          <a:blip r:embed="rId2"/>
          <a:stretch>
            <a:fillRect/>
          </a:stretch>
        </p:blipFill>
        <p:spPr>
          <a:xfrm>
            <a:off x="3503612" y="650354"/>
            <a:ext cx="3192210" cy="3248294"/>
          </a:xfrm>
        </p:spPr>
      </p:pic>
      <p:pic>
        <p:nvPicPr>
          <p:cNvPr id="7" name="Picture 6">
            <a:extLst>
              <a:ext uri="{FF2B5EF4-FFF2-40B4-BE49-F238E27FC236}">
                <a16:creationId xmlns:a16="http://schemas.microsoft.com/office/drawing/2014/main" id="{7E5949A9-59EF-E2E7-A1F9-1D528E16ED20}"/>
              </a:ext>
            </a:extLst>
          </p:cNvPr>
          <p:cNvPicPr>
            <a:picLocks noChangeAspect="1"/>
          </p:cNvPicPr>
          <p:nvPr/>
        </p:nvPicPr>
        <p:blipFill>
          <a:blip r:embed="rId3"/>
          <a:stretch>
            <a:fillRect/>
          </a:stretch>
        </p:blipFill>
        <p:spPr>
          <a:xfrm>
            <a:off x="236957" y="650354"/>
            <a:ext cx="3292496" cy="3248294"/>
          </a:xfrm>
          <a:prstGeom prst="rect">
            <a:avLst/>
          </a:prstGeom>
        </p:spPr>
      </p:pic>
      <p:pic>
        <p:nvPicPr>
          <p:cNvPr id="8" name="Picture 7" descr="A black and white text with numbers&#10;&#10;AI-generated content may be incorrect.">
            <a:extLst>
              <a:ext uri="{FF2B5EF4-FFF2-40B4-BE49-F238E27FC236}">
                <a16:creationId xmlns:a16="http://schemas.microsoft.com/office/drawing/2014/main" id="{EA2ADC92-C62D-7857-E979-B694B4F325EE}"/>
              </a:ext>
            </a:extLst>
          </p:cNvPr>
          <p:cNvPicPr>
            <a:picLocks noChangeAspect="1"/>
          </p:cNvPicPr>
          <p:nvPr/>
        </p:nvPicPr>
        <p:blipFill>
          <a:blip r:embed="rId4"/>
          <a:stretch>
            <a:fillRect/>
          </a:stretch>
        </p:blipFill>
        <p:spPr>
          <a:xfrm>
            <a:off x="268306" y="4469128"/>
            <a:ext cx="6470613" cy="2017192"/>
          </a:xfrm>
          <a:prstGeom prst="rect">
            <a:avLst/>
          </a:prstGeom>
        </p:spPr>
      </p:pic>
      <p:pic>
        <p:nvPicPr>
          <p:cNvPr id="9" name="Picture 8" descr="A graph showing a red and green rectangle&#10;&#10;AI-generated content may be incorrect.">
            <a:extLst>
              <a:ext uri="{FF2B5EF4-FFF2-40B4-BE49-F238E27FC236}">
                <a16:creationId xmlns:a16="http://schemas.microsoft.com/office/drawing/2014/main" id="{79B1CFDB-960C-ABC0-07BD-062C5F82C09D}"/>
              </a:ext>
            </a:extLst>
          </p:cNvPr>
          <p:cNvPicPr>
            <a:picLocks noChangeAspect="1"/>
          </p:cNvPicPr>
          <p:nvPr/>
        </p:nvPicPr>
        <p:blipFill>
          <a:blip r:embed="rId5"/>
          <a:stretch>
            <a:fillRect/>
          </a:stretch>
        </p:blipFill>
        <p:spPr>
          <a:xfrm>
            <a:off x="7008812" y="360828"/>
            <a:ext cx="4740297" cy="3235120"/>
          </a:xfrm>
          <a:prstGeom prst="rect">
            <a:avLst/>
          </a:prstGeom>
        </p:spPr>
      </p:pic>
      <p:sp>
        <p:nvSpPr>
          <p:cNvPr id="3" name="Title 1">
            <a:extLst>
              <a:ext uri="{FF2B5EF4-FFF2-40B4-BE49-F238E27FC236}">
                <a16:creationId xmlns:a16="http://schemas.microsoft.com/office/drawing/2014/main" id="{7679D624-4F59-47FB-8C99-6D5187E9F36D}"/>
              </a:ext>
            </a:extLst>
          </p:cNvPr>
          <p:cNvSpPr txBox="1">
            <a:spLocks/>
          </p:cNvSpPr>
          <p:nvPr/>
        </p:nvSpPr>
        <p:spPr>
          <a:xfrm>
            <a:off x="549705" y="93062"/>
            <a:ext cx="2667000" cy="53553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dirty="0"/>
              <a:t>Traditional</a:t>
            </a:r>
            <a:endParaRPr lang="en-IN" dirty="0"/>
          </a:p>
        </p:txBody>
      </p:sp>
      <p:sp>
        <p:nvSpPr>
          <p:cNvPr id="4" name="Title 1">
            <a:extLst>
              <a:ext uri="{FF2B5EF4-FFF2-40B4-BE49-F238E27FC236}">
                <a16:creationId xmlns:a16="http://schemas.microsoft.com/office/drawing/2014/main" id="{3669DDF0-7240-CCE6-D2CA-B328A1FCF4E3}"/>
              </a:ext>
            </a:extLst>
          </p:cNvPr>
          <p:cNvSpPr txBox="1">
            <a:spLocks/>
          </p:cNvSpPr>
          <p:nvPr/>
        </p:nvSpPr>
        <p:spPr>
          <a:xfrm>
            <a:off x="4146315" y="41354"/>
            <a:ext cx="2047515" cy="5872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dirty="0"/>
              <a:t>Improved</a:t>
            </a:r>
            <a:endParaRPr lang="en-IN" dirty="0"/>
          </a:p>
        </p:txBody>
      </p:sp>
      <p:sp>
        <p:nvSpPr>
          <p:cNvPr id="16" name="TextBox 15">
            <a:extLst>
              <a:ext uri="{FF2B5EF4-FFF2-40B4-BE49-F238E27FC236}">
                <a16:creationId xmlns:a16="http://schemas.microsoft.com/office/drawing/2014/main" id="{051F648F-681E-687C-0700-799A7C86FFE2}"/>
              </a:ext>
            </a:extLst>
          </p:cNvPr>
          <p:cNvSpPr txBox="1"/>
          <p:nvPr/>
        </p:nvSpPr>
        <p:spPr>
          <a:xfrm>
            <a:off x="148385" y="4127496"/>
            <a:ext cx="6136640" cy="341632"/>
          </a:xfrm>
          <a:prstGeom prst="rect">
            <a:avLst/>
          </a:prstGeom>
          <a:noFill/>
        </p:spPr>
        <p:txBody>
          <a:bodyPr wrap="square">
            <a:spAutoFit/>
          </a:bodyPr>
          <a:lstStyle/>
          <a:p>
            <a:pPr>
              <a:lnSpc>
                <a:spcPct val="90000"/>
              </a:lnSpc>
            </a:pPr>
            <a:r>
              <a:rPr lang="en-US" sz="1800" dirty="0">
                <a:solidFill>
                  <a:schemeClr val="accent1"/>
                </a:solidFill>
              </a:rPr>
              <a:t>Analysis:</a:t>
            </a:r>
          </a:p>
        </p:txBody>
      </p:sp>
      <p:sp>
        <p:nvSpPr>
          <p:cNvPr id="19" name="TextBox 18">
            <a:extLst>
              <a:ext uri="{FF2B5EF4-FFF2-40B4-BE49-F238E27FC236}">
                <a16:creationId xmlns:a16="http://schemas.microsoft.com/office/drawing/2014/main" id="{221ECC92-999E-91AF-0954-A0FC3FD1D25A}"/>
              </a:ext>
            </a:extLst>
          </p:cNvPr>
          <p:cNvSpPr txBox="1"/>
          <p:nvPr/>
        </p:nvSpPr>
        <p:spPr>
          <a:xfrm>
            <a:off x="7373824" y="5123781"/>
            <a:ext cx="4375285" cy="707886"/>
          </a:xfrm>
          <a:prstGeom prst="rect">
            <a:avLst/>
          </a:prstGeom>
          <a:noFill/>
        </p:spPr>
        <p:txBody>
          <a:bodyPr wrap="square">
            <a:spAutoFit/>
          </a:bodyPr>
          <a:lstStyle/>
          <a:p>
            <a:r>
              <a:rPr lang="en-US" sz="2000" dirty="0"/>
              <a:t>The optimized algorithm enables faster pathfinding than the Traditional one</a:t>
            </a:r>
            <a:endParaRPr lang="en-IN" sz="2000" dirty="0"/>
          </a:p>
        </p:txBody>
      </p:sp>
    </p:spTree>
    <p:extLst>
      <p:ext uri="{BB962C8B-B14F-4D97-AF65-F5344CB8AC3E}">
        <p14:creationId xmlns:p14="http://schemas.microsoft.com/office/powerpoint/2010/main" val="22158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6493-6442-D4B6-B182-3EF3EB044E84}"/>
            </a:ext>
          </a:extLst>
        </p:cNvPr>
        <p:cNvGrpSpPr/>
        <p:nvPr/>
      </p:nvGrpSpPr>
      <p:grpSpPr>
        <a:xfrm>
          <a:off x="0" y="0"/>
          <a:ext cx="0" cy="0"/>
          <a:chOff x="0" y="0"/>
          <a:chExt cx="0" cy="0"/>
        </a:xfrm>
      </p:grpSpPr>
      <p:pic>
        <p:nvPicPr>
          <p:cNvPr id="4" name="Content Placeholder 3" descr="A graph of a path&#10;&#10;AI-generated content may be incorrect.">
            <a:extLst>
              <a:ext uri="{FF2B5EF4-FFF2-40B4-BE49-F238E27FC236}">
                <a16:creationId xmlns:a16="http://schemas.microsoft.com/office/drawing/2014/main" id="{B5C9A6A0-4422-6C3E-210C-A0E1CCFD159F}"/>
              </a:ext>
            </a:extLst>
          </p:cNvPr>
          <p:cNvPicPr>
            <a:picLocks noGrp="1" noChangeAspect="1"/>
          </p:cNvPicPr>
          <p:nvPr>
            <p:ph idx="4294967295"/>
          </p:nvPr>
        </p:nvPicPr>
        <p:blipFill>
          <a:blip r:embed="rId2"/>
          <a:stretch>
            <a:fillRect/>
          </a:stretch>
        </p:blipFill>
        <p:spPr>
          <a:xfrm>
            <a:off x="8380412" y="490435"/>
            <a:ext cx="3441700" cy="3470275"/>
          </a:xfrm>
        </p:spPr>
      </p:pic>
      <p:pic>
        <p:nvPicPr>
          <p:cNvPr id="10" name="Picture 9" descr="A black and white diagram with red dots&#10;&#10;AI-generated content may be incorrect.">
            <a:extLst>
              <a:ext uri="{FF2B5EF4-FFF2-40B4-BE49-F238E27FC236}">
                <a16:creationId xmlns:a16="http://schemas.microsoft.com/office/drawing/2014/main" id="{748F7E7C-7E5D-2665-B9F8-57C36BC39DEB}"/>
              </a:ext>
            </a:extLst>
          </p:cNvPr>
          <p:cNvPicPr>
            <a:picLocks noChangeAspect="1"/>
          </p:cNvPicPr>
          <p:nvPr/>
        </p:nvPicPr>
        <p:blipFill>
          <a:blip r:embed="rId3"/>
          <a:stretch>
            <a:fillRect/>
          </a:stretch>
        </p:blipFill>
        <p:spPr>
          <a:xfrm>
            <a:off x="4903908" y="471767"/>
            <a:ext cx="3321969" cy="3488943"/>
          </a:xfrm>
          <a:prstGeom prst="rect">
            <a:avLst/>
          </a:prstGeom>
        </p:spPr>
      </p:pic>
      <p:pic>
        <p:nvPicPr>
          <p:cNvPr id="11" name="Picture 10" descr="A black and white text&#10;&#10;AI-generated content may be incorrect.">
            <a:extLst>
              <a:ext uri="{FF2B5EF4-FFF2-40B4-BE49-F238E27FC236}">
                <a16:creationId xmlns:a16="http://schemas.microsoft.com/office/drawing/2014/main" id="{98553BFF-1F4E-D14C-D457-4427BB5E0457}"/>
              </a:ext>
            </a:extLst>
          </p:cNvPr>
          <p:cNvPicPr>
            <a:picLocks noChangeAspect="1"/>
          </p:cNvPicPr>
          <p:nvPr/>
        </p:nvPicPr>
        <p:blipFill>
          <a:blip r:embed="rId4"/>
          <a:stretch>
            <a:fillRect/>
          </a:stretch>
        </p:blipFill>
        <p:spPr>
          <a:xfrm>
            <a:off x="75111" y="476847"/>
            <a:ext cx="4673448" cy="1149925"/>
          </a:xfrm>
          <a:prstGeom prst="rect">
            <a:avLst/>
          </a:prstGeom>
        </p:spPr>
      </p:pic>
      <p:pic>
        <p:nvPicPr>
          <p:cNvPr id="12" name="Picture 11" descr="A red and green rectangular box&#10;&#10;AI-generated content may be incorrect.">
            <a:extLst>
              <a:ext uri="{FF2B5EF4-FFF2-40B4-BE49-F238E27FC236}">
                <a16:creationId xmlns:a16="http://schemas.microsoft.com/office/drawing/2014/main" id="{649AD25D-1331-827A-20D0-41208E553113}"/>
              </a:ext>
            </a:extLst>
          </p:cNvPr>
          <p:cNvPicPr>
            <a:picLocks noChangeAspect="1"/>
          </p:cNvPicPr>
          <p:nvPr/>
        </p:nvPicPr>
        <p:blipFill>
          <a:blip r:embed="rId5"/>
          <a:stretch>
            <a:fillRect/>
          </a:stretch>
        </p:blipFill>
        <p:spPr>
          <a:xfrm>
            <a:off x="92640" y="1752600"/>
            <a:ext cx="4655919" cy="3028950"/>
          </a:xfrm>
          <a:prstGeom prst="rect">
            <a:avLst/>
          </a:prstGeom>
        </p:spPr>
      </p:pic>
      <p:sp>
        <p:nvSpPr>
          <p:cNvPr id="2" name="Title 1">
            <a:extLst>
              <a:ext uri="{FF2B5EF4-FFF2-40B4-BE49-F238E27FC236}">
                <a16:creationId xmlns:a16="http://schemas.microsoft.com/office/drawing/2014/main" id="{3903B446-A7F4-9201-D42E-584B246CAC13}"/>
              </a:ext>
            </a:extLst>
          </p:cNvPr>
          <p:cNvSpPr txBox="1">
            <a:spLocks/>
          </p:cNvSpPr>
          <p:nvPr/>
        </p:nvSpPr>
        <p:spPr>
          <a:xfrm>
            <a:off x="6248947" y="3960710"/>
            <a:ext cx="1922265" cy="4475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dirty="0">
                <a:solidFill>
                  <a:schemeClr val="accent1"/>
                </a:solidFill>
              </a:rPr>
              <a:t>Comparison</a:t>
            </a:r>
            <a:endParaRPr lang="en-IN" sz="2000" dirty="0">
              <a:solidFill>
                <a:schemeClr val="accent1"/>
              </a:solidFill>
            </a:endParaRPr>
          </a:p>
        </p:txBody>
      </p:sp>
      <p:sp>
        <p:nvSpPr>
          <p:cNvPr id="7" name="TextBox 6">
            <a:extLst>
              <a:ext uri="{FF2B5EF4-FFF2-40B4-BE49-F238E27FC236}">
                <a16:creationId xmlns:a16="http://schemas.microsoft.com/office/drawing/2014/main" id="{A8DEE772-FC19-7415-7B54-40D9F80282BD}"/>
              </a:ext>
            </a:extLst>
          </p:cNvPr>
          <p:cNvSpPr txBox="1"/>
          <p:nvPr/>
        </p:nvSpPr>
        <p:spPr>
          <a:xfrm>
            <a:off x="18732" y="72301"/>
            <a:ext cx="1277258" cy="341632"/>
          </a:xfrm>
          <a:prstGeom prst="rect">
            <a:avLst/>
          </a:prstGeom>
          <a:noFill/>
        </p:spPr>
        <p:txBody>
          <a:bodyPr wrap="square">
            <a:spAutoFit/>
          </a:bodyPr>
          <a:lstStyle/>
          <a:p>
            <a:pPr>
              <a:lnSpc>
                <a:spcPct val="90000"/>
              </a:lnSpc>
            </a:pPr>
            <a:r>
              <a:rPr lang="en-US" sz="1800" dirty="0">
                <a:solidFill>
                  <a:schemeClr val="accent1"/>
                </a:solidFill>
              </a:rPr>
              <a:t>Analysis</a:t>
            </a:r>
          </a:p>
        </p:txBody>
      </p:sp>
      <p:sp>
        <p:nvSpPr>
          <p:cNvPr id="9" name="Arrow: Bent 8">
            <a:extLst>
              <a:ext uri="{FF2B5EF4-FFF2-40B4-BE49-F238E27FC236}">
                <a16:creationId xmlns:a16="http://schemas.microsoft.com/office/drawing/2014/main" id="{4C6F98C4-64EC-EF90-DD5C-8BB047B13620}"/>
              </a:ext>
            </a:extLst>
          </p:cNvPr>
          <p:cNvSpPr/>
          <p:nvPr/>
        </p:nvSpPr>
        <p:spPr>
          <a:xfrm rot="5400000">
            <a:off x="1544661" y="-345638"/>
            <a:ext cx="241888" cy="1277258"/>
          </a:xfrm>
          <a:prstGeom prst="bent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Arrow: Left 13">
            <a:extLst>
              <a:ext uri="{FF2B5EF4-FFF2-40B4-BE49-F238E27FC236}">
                <a16:creationId xmlns:a16="http://schemas.microsoft.com/office/drawing/2014/main" id="{571178DA-CD3C-B6FF-3278-2059662BB9F0}"/>
              </a:ext>
            </a:extLst>
          </p:cNvPr>
          <p:cNvSpPr/>
          <p:nvPr/>
        </p:nvSpPr>
        <p:spPr>
          <a:xfrm>
            <a:off x="5180012" y="4148035"/>
            <a:ext cx="914400" cy="189902"/>
          </a:xfrm>
          <a:prstGeom prst="left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Bent-Up 14">
            <a:extLst>
              <a:ext uri="{FF2B5EF4-FFF2-40B4-BE49-F238E27FC236}">
                <a16:creationId xmlns:a16="http://schemas.microsoft.com/office/drawing/2014/main" id="{AF024B78-B4F1-0AA4-71C8-8B88A5EEAFB9}"/>
              </a:ext>
            </a:extLst>
          </p:cNvPr>
          <p:cNvSpPr/>
          <p:nvPr/>
        </p:nvSpPr>
        <p:spPr>
          <a:xfrm>
            <a:off x="8025249" y="4005309"/>
            <a:ext cx="457200" cy="282275"/>
          </a:xfrm>
          <a:prstGeom prst="bentUp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744AF3C-98BB-D814-F672-E752874E30AF}"/>
              </a:ext>
            </a:extLst>
          </p:cNvPr>
          <p:cNvSpPr txBox="1"/>
          <p:nvPr/>
        </p:nvSpPr>
        <p:spPr>
          <a:xfrm>
            <a:off x="5746224" y="4959705"/>
            <a:ext cx="1510938" cy="1477328"/>
          </a:xfrm>
          <a:prstGeom prst="rect">
            <a:avLst/>
          </a:prstGeom>
          <a:noFill/>
        </p:spPr>
        <p:txBody>
          <a:bodyPr wrap="square">
            <a:spAutoFit/>
          </a:bodyPr>
          <a:lstStyle/>
          <a:p>
            <a:r>
              <a:rPr lang="en-IN" dirty="0"/>
              <a:t>Navigation is smoother and more stable with reduced sharp turns</a:t>
            </a:r>
          </a:p>
        </p:txBody>
      </p:sp>
      <p:sp>
        <p:nvSpPr>
          <p:cNvPr id="20" name="TextBox 19">
            <a:extLst>
              <a:ext uri="{FF2B5EF4-FFF2-40B4-BE49-F238E27FC236}">
                <a16:creationId xmlns:a16="http://schemas.microsoft.com/office/drawing/2014/main" id="{8377D32E-7FCC-DA35-2AE4-F1CB1B99FF39}"/>
              </a:ext>
            </a:extLst>
          </p:cNvPr>
          <p:cNvSpPr txBox="1"/>
          <p:nvPr/>
        </p:nvSpPr>
        <p:spPr>
          <a:xfrm flipH="1">
            <a:off x="9398689" y="5029200"/>
            <a:ext cx="1890165" cy="1477328"/>
          </a:xfrm>
          <a:prstGeom prst="rect">
            <a:avLst/>
          </a:prstGeom>
          <a:noFill/>
        </p:spPr>
        <p:txBody>
          <a:bodyPr wrap="square">
            <a:spAutoFit/>
          </a:bodyPr>
          <a:lstStyle/>
          <a:p>
            <a:r>
              <a:rPr lang="en-IN" dirty="0"/>
              <a:t>The optimized algorithm leads to increased productivity and responsiveness</a:t>
            </a:r>
          </a:p>
        </p:txBody>
      </p:sp>
      <p:sp>
        <p:nvSpPr>
          <p:cNvPr id="22" name="TextBox 21">
            <a:extLst>
              <a:ext uri="{FF2B5EF4-FFF2-40B4-BE49-F238E27FC236}">
                <a16:creationId xmlns:a16="http://schemas.microsoft.com/office/drawing/2014/main" id="{B144B89F-249A-6205-4185-D096942E9164}"/>
              </a:ext>
            </a:extLst>
          </p:cNvPr>
          <p:cNvSpPr txBox="1"/>
          <p:nvPr/>
        </p:nvSpPr>
        <p:spPr>
          <a:xfrm>
            <a:off x="3122612" y="5019040"/>
            <a:ext cx="2211594" cy="1477328"/>
          </a:xfrm>
          <a:prstGeom prst="rect">
            <a:avLst/>
          </a:prstGeom>
          <a:noFill/>
        </p:spPr>
        <p:txBody>
          <a:bodyPr wrap="square">
            <a:spAutoFit/>
          </a:bodyPr>
          <a:lstStyle/>
          <a:p>
            <a:r>
              <a:rPr lang="en-IN" dirty="0"/>
              <a:t>The reduction in energy consumption contributes to a lower environmental impact.</a:t>
            </a:r>
          </a:p>
        </p:txBody>
      </p:sp>
      <p:sp>
        <p:nvSpPr>
          <p:cNvPr id="24" name="TextBox 23">
            <a:extLst>
              <a:ext uri="{FF2B5EF4-FFF2-40B4-BE49-F238E27FC236}">
                <a16:creationId xmlns:a16="http://schemas.microsoft.com/office/drawing/2014/main" id="{8C4C509A-634F-F6F0-8E24-D04DB2A6413D}"/>
              </a:ext>
            </a:extLst>
          </p:cNvPr>
          <p:cNvSpPr txBox="1"/>
          <p:nvPr/>
        </p:nvSpPr>
        <p:spPr>
          <a:xfrm>
            <a:off x="7669180" y="5029200"/>
            <a:ext cx="1316672" cy="1477328"/>
          </a:xfrm>
          <a:prstGeom prst="rect">
            <a:avLst/>
          </a:prstGeom>
          <a:noFill/>
        </p:spPr>
        <p:txBody>
          <a:bodyPr wrap="square">
            <a:spAutoFit/>
          </a:bodyPr>
          <a:lstStyle/>
          <a:p>
            <a:r>
              <a:rPr lang="en-IN" dirty="0"/>
              <a:t>This results in reduced wear and tear on the AGVs.</a:t>
            </a:r>
          </a:p>
        </p:txBody>
      </p:sp>
      <p:sp>
        <p:nvSpPr>
          <p:cNvPr id="26" name="TextBox 25">
            <a:extLst>
              <a:ext uri="{FF2B5EF4-FFF2-40B4-BE49-F238E27FC236}">
                <a16:creationId xmlns:a16="http://schemas.microsoft.com/office/drawing/2014/main" id="{EBDAF7E4-AC48-6C21-CAB1-4728B2E19069}"/>
              </a:ext>
            </a:extLst>
          </p:cNvPr>
          <p:cNvSpPr txBox="1"/>
          <p:nvPr/>
        </p:nvSpPr>
        <p:spPr>
          <a:xfrm>
            <a:off x="498182" y="5039360"/>
            <a:ext cx="2211593" cy="1588127"/>
          </a:xfrm>
          <a:prstGeom prst="rect">
            <a:avLst/>
          </a:prstGeom>
          <a:noFill/>
        </p:spPr>
        <p:txBody>
          <a:bodyPr wrap="square">
            <a:spAutoFit/>
          </a:bodyPr>
          <a:lstStyle/>
          <a:p>
            <a:pPr>
              <a:lnSpc>
                <a:spcPct val="90000"/>
              </a:lnSpc>
            </a:pPr>
            <a:r>
              <a:rPr lang="en-US" sz="1800" dirty="0"/>
              <a:t>Energy consumed by the optimized algorithm is significantly lesser that the traditional one</a:t>
            </a:r>
            <a:endParaRPr lang="en-IN" sz="1800" dirty="0"/>
          </a:p>
        </p:txBody>
      </p:sp>
    </p:spTree>
    <p:extLst>
      <p:ext uri="{BB962C8B-B14F-4D97-AF65-F5344CB8AC3E}">
        <p14:creationId xmlns:p14="http://schemas.microsoft.com/office/powerpoint/2010/main" val="204904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Custom" id="{37DB63F3-72C7-4A67-82CB-DE1EC68F0B1F}" vid="{1DDF8815-C24B-4878-AB18-C1C7DB7407AA}"/>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BA52FF4-E484-4953-8434-9402E3BE0AB5}">
  <ds:schemaRefs>
    <ds:schemaRef ds:uri="http://schemas.microsoft.com/sharepoint/v3/contenttype/forms"/>
  </ds:schemaRefs>
</ds:datastoreItem>
</file>

<file path=customXml/itemProps2.xml><?xml version="1.0" encoding="utf-8"?>
<ds:datastoreItem xmlns:ds="http://schemas.openxmlformats.org/officeDocument/2006/customXml" ds:itemID="{25FC92C0-A33F-467F-A65D-AA0CE0BD2B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2B82EB-80D3-4DDB-9A53-0D22163B57B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729</TotalTime>
  <Words>2230</Words>
  <Application>Microsoft Office PowerPoint</Application>
  <PresentationFormat>Custom</PresentationFormat>
  <Paragraphs>197</Paragraphs>
  <Slides>33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Bahnschrift Light SemiCondensed</vt:lpstr>
      <vt:lpstr>Bahnschrift SemiBold</vt:lpstr>
      <vt:lpstr>Calibri</vt:lpstr>
      <vt:lpstr>Consolas</vt:lpstr>
      <vt:lpstr>Corbel</vt:lpstr>
      <vt:lpstr>Custom</vt:lpstr>
      <vt:lpstr>Problem definition</vt:lpstr>
      <vt:lpstr>AGV</vt:lpstr>
      <vt:lpstr>Key Factors to Consider</vt:lpstr>
      <vt:lpstr>Understanding and Relevance</vt:lpstr>
      <vt:lpstr>Addressing the Key Factors</vt:lpstr>
      <vt:lpstr>Addressing the Key Factors</vt:lpstr>
      <vt:lpstr>ERM for energy optimization</vt:lpstr>
      <vt:lpstr>ERM for energy optimization</vt:lpstr>
      <vt:lpstr>ERM for energy optimization</vt:lpstr>
      <vt:lpstr>Study on AGVs battery charging strategy for improving utilization</vt:lpstr>
      <vt:lpstr>Objectives: </vt:lpstr>
      <vt:lpstr>PowerPoint Presentation</vt:lpstr>
      <vt:lpstr>Approach</vt:lpstr>
      <vt:lpstr>Creation of Grid </vt:lpstr>
      <vt:lpstr>PowerPoint Presentation</vt:lpstr>
      <vt:lpstr>Path-Finding Algorithms</vt:lpstr>
      <vt:lpstr>Grid based Algorithms</vt:lpstr>
      <vt:lpstr>Sampling based Algorithms</vt:lpstr>
      <vt:lpstr>Bio inspired Algorithms</vt:lpstr>
      <vt:lpstr>Improved A*</vt:lpstr>
      <vt:lpstr>Comparison</vt:lpstr>
      <vt:lpstr>Combining improved A* with ERM</vt:lpstr>
      <vt:lpstr>Combining improved A* with ERM</vt:lpstr>
      <vt:lpstr>Combining improved A* with ERM</vt:lpstr>
      <vt:lpstr>Methodology</vt:lpstr>
      <vt:lpstr>PowerPoint Presentation</vt:lpstr>
      <vt:lpstr>PowerPoint Presentation</vt:lpstr>
      <vt:lpstr>CODE</vt:lpstr>
      <vt:lpstr>PowerPoint Presentation</vt:lpstr>
      <vt:lpstr>PowerPoint Presentation</vt:lpstr>
      <vt:lpstr>Results and Analysis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abinaya senthil</dc:creator>
  <cp:lastModifiedBy>Abinaya S - [CB.EN.U4ARE22004]</cp:lastModifiedBy>
  <cp:revision>875</cp:revision>
  <dcterms:created xsi:type="dcterms:W3CDTF">2025-03-09T17:45:13Z</dcterms:created>
  <dcterms:modified xsi:type="dcterms:W3CDTF">2026-05-07T08:37:16Z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